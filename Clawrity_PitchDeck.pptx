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Lst>
  <p:notesMasterIdLst>
    <p:notesMasterId r:id="rId23"/>
  </p:notesMasterIdLst>
  <p:sldIdLst>
    <p:sldId id="256" r:id="rId13"/>
    <p:sldId id="257" r:id="rId14"/>
    <p:sldId id="258" r:id="rId15"/>
    <p:sldId id="259" r:id="rId16"/>
    <p:sldId id="260" r:id="rId17"/>
    <p:sldId id="261" r:id="rId18"/>
    <p:sldId id="262" r:id="rId19"/>
    <p:sldId id="263" r:id="rId20"/>
    <p:sldId id="264" r:id="rId21"/>
    <p:sldId id="26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7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7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72"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73"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4"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8F6E9593-6D3D-4F2B-B9EC-91F5C14ED897}"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noRot="1" noChangeAspect="1"/>
          </p:cNvSpPr>
          <p:nvPr>
            <p:ph type="sldImg"/>
          </p:nvPr>
        </p:nvSpPr>
        <p:spPr>
          <a:xfrm>
            <a:off x="685800" y="1143000"/>
            <a:ext cx="5486400" cy="3086100"/>
          </a:xfrm>
          <a:prstGeom prst="rect">
            <a:avLst/>
          </a:prstGeom>
          <a:ln w="0">
            <a:noFill/>
          </a:ln>
        </p:spPr>
      </p:sp>
      <p:sp>
        <p:nvSpPr>
          <p:cNvPr id="1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45"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B09C623-5CA8-488D-9D10-29DEFA78E788}"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noRot="1" noChangeAspect="1"/>
          </p:cNvSpPr>
          <p:nvPr>
            <p:ph type="sldImg"/>
          </p:nvPr>
        </p:nvSpPr>
        <p:spPr>
          <a:xfrm>
            <a:off x="685800" y="1143000"/>
            <a:ext cx="5486400" cy="3086100"/>
          </a:xfrm>
          <a:prstGeom prst="rect">
            <a:avLst/>
          </a:prstGeom>
          <a:ln w="0">
            <a:noFill/>
          </a:ln>
        </p:spPr>
      </p:sp>
      <p:sp>
        <p:nvSpPr>
          <p:cNvPr id="1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48"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AACDD19-665D-4281-854F-F17CA970C65B}"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noRot="1" noChangeAspect="1"/>
          </p:cNvSpPr>
          <p:nvPr>
            <p:ph type="sldImg"/>
          </p:nvPr>
        </p:nvSpPr>
        <p:spPr>
          <a:xfrm>
            <a:off x="685800" y="1143000"/>
            <a:ext cx="5486400" cy="3086100"/>
          </a:xfrm>
          <a:prstGeom prst="rect">
            <a:avLst/>
          </a:prstGeom>
          <a:ln w="0">
            <a:noFill/>
          </a:ln>
        </p:spPr>
      </p:sp>
      <p:sp>
        <p:nvSpPr>
          <p:cNvPr id="1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51"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11E799A-2711-4FB0-B539-5FC3B28AB69B}"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noRot="1" noChangeAspect="1"/>
          </p:cNvSpPr>
          <p:nvPr>
            <p:ph type="sldImg"/>
          </p:nvPr>
        </p:nvSpPr>
        <p:spPr>
          <a:xfrm>
            <a:off x="685800" y="1143000"/>
            <a:ext cx="5486400" cy="3086100"/>
          </a:xfrm>
          <a:prstGeom prst="rect">
            <a:avLst/>
          </a:prstGeom>
          <a:ln w="0">
            <a:noFill/>
          </a:ln>
        </p:spPr>
      </p:sp>
      <p:sp>
        <p:nvSpPr>
          <p:cNvPr id="1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54"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26B8ED9-27C8-48CF-8D64-F46EA11BDC47}"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noRot="1" noChangeAspect="1"/>
          </p:cNvSpPr>
          <p:nvPr>
            <p:ph type="sldImg"/>
          </p:nvPr>
        </p:nvSpPr>
        <p:spPr>
          <a:xfrm>
            <a:off x="685800" y="1143000"/>
            <a:ext cx="5486400" cy="3086100"/>
          </a:xfrm>
          <a:prstGeom prst="rect">
            <a:avLst/>
          </a:prstGeom>
          <a:ln w="0">
            <a:noFill/>
          </a:ln>
        </p:spPr>
      </p:sp>
      <p:sp>
        <p:nvSpPr>
          <p:cNvPr id="1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57"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7D373CB-EEEB-4DEF-9696-58802E898F8A}"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noRot="1" noChangeAspect="1"/>
          </p:cNvSpPr>
          <p:nvPr>
            <p:ph type="sldImg"/>
          </p:nvPr>
        </p:nvSpPr>
        <p:spPr>
          <a:xfrm>
            <a:off x="685800" y="1143000"/>
            <a:ext cx="5486400" cy="3086100"/>
          </a:xfrm>
          <a:prstGeom prst="rect">
            <a:avLst/>
          </a:prstGeom>
          <a:ln w="0">
            <a:noFill/>
          </a:ln>
        </p:spPr>
      </p:sp>
      <p:sp>
        <p:nvSpPr>
          <p:cNvPr id="1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60"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F7475C0-91E2-4A98-9E97-58C1E741B853}"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noRot="1" noChangeAspect="1"/>
          </p:cNvSpPr>
          <p:nvPr>
            <p:ph type="sldImg"/>
          </p:nvPr>
        </p:nvSpPr>
        <p:spPr>
          <a:xfrm>
            <a:off x="685800" y="1143000"/>
            <a:ext cx="5486400" cy="3086100"/>
          </a:xfrm>
          <a:prstGeom prst="rect">
            <a:avLst/>
          </a:prstGeom>
          <a:ln w="0">
            <a:noFill/>
          </a:ln>
        </p:spPr>
      </p:sp>
      <p:sp>
        <p:nvSpPr>
          <p:cNvPr id="1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63"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1E8960D-FCA9-4C2C-8DFA-B66C19579AA2}"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66"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1F89CA5-343E-4417-B7B1-9E483D26AA45}"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noRot="1" noChangeAspect="1"/>
          </p:cNvSpPr>
          <p:nvPr>
            <p:ph type="sldImg"/>
          </p:nvPr>
        </p:nvSpPr>
        <p:spPr>
          <a:xfrm>
            <a:off x="685800" y="1143000"/>
            <a:ext cx="5486400" cy="3086100"/>
          </a:xfrm>
          <a:prstGeom prst="rect">
            <a:avLst/>
          </a:prstGeom>
          <a:ln w="0">
            <a:noFill/>
          </a:ln>
        </p:spPr>
      </p:sp>
      <p:sp>
        <p:nvSpPr>
          <p:cNvPr id="1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69"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E903C5A-B696-4816-B2EF-58B8D0F122EC}"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2" name="PlaceHolder 3"/>
          <p:cNvSpPr>
            <a:spLocks noGrp="1"/>
          </p:cNvSpPr>
          <p:nvPr>
            <p:ph type="ftr" idx="2"/>
          </p:nvPr>
        </p:nvSpPr>
        <p:spPr/>
        <p:txBody>
          <a:bodyPr/>
          <a:lstStyle/>
          <a:p>
            <a:r>
              <a:t>Footer</a:t>
            </a:r>
          </a:p>
        </p:txBody>
      </p:sp>
      <p:sp>
        <p:nvSpPr>
          <p:cNvPr id="3" name="PlaceHolder 4"/>
          <p:cNvSpPr>
            <a:spLocks noGrp="1"/>
          </p:cNvSpPr>
          <p:nvPr>
            <p:ph type="sldNum" idx="3"/>
          </p:nvPr>
        </p:nvSpPr>
        <p:spPr/>
        <p:txBody>
          <a:bodyPr/>
          <a:lstStyle/>
          <a:p>
            <a:fld id="{F9EFC932-E6E8-496E-9B44-A3018E1D3B0F}"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821CD93B-7A64-4EB0-9A9D-1D51A2D6B6D3}"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70FFD852-7B97-433A-BAA5-FB09ED3E2D04}"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4"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5E92CFD8-4F77-451E-BD97-4397E30604BA}"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2F051173-4D08-485E-9BB7-24E62B99E70E}"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Calibri"/>
            </a:endParaRPr>
          </a:p>
        </p:txBody>
      </p:sp>
      <p:sp>
        <p:nvSpPr>
          <p:cNvPr id="3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6EE0D3CF-5439-4CDF-B4EE-A34D16C921AF}"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704CC9C6-7032-4D0D-A0E9-0D0C86609D7B}"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48B16540-2F0B-47E9-B08F-92C585B0A631}"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D15D7065-8B48-47D4-9644-D7AB2A43809F}"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3B8908AA-7992-4FEA-B5BA-EE3A547AF47E}"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42125B47-5BC6-4DC8-9476-8AE958FC2C4E}"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strike="noStrike" spc="-1">
                <a:solidFill>
                  <a:schemeClr val="dk1"/>
                </a:solidFill>
                <a:latin typeface="Calibri Light"/>
              </a:rPr>
              <a:t>Click to edit Master title style</a:t>
            </a:r>
            <a:endParaRPr lang="en-US" sz="6000" b="0" strike="noStrike" spc="-1">
              <a:solidFill>
                <a:schemeClr val="dk1"/>
              </a:solidFill>
              <a:latin typeface="Calibri"/>
            </a:endParaRPr>
          </a:p>
        </p:txBody>
      </p:sp>
      <p:sp>
        <p:nvSpPr>
          <p:cNvPr id="5"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FA7679F0-9433-47DF-B83E-9FDB61675B8C}"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Calibri Light"/>
              </a:rPr>
              <a:t>Click to edit Master title style</a:t>
            </a:r>
            <a:endParaRPr lang="en-US" sz="4400" b="0" strike="noStrike" spc="-1">
              <a:solidFill>
                <a:schemeClr val="dk1"/>
              </a:solidFill>
              <a:latin typeface="Calibri"/>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Fifth level</a:t>
            </a: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7E39C494-7C71-44C3-8B23-AC5F6CEA55E2}"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strike="noStrike" spc="-1">
                <a:solidFill>
                  <a:schemeClr val="dk1"/>
                </a:solidFill>
                <a:latin typeface="Calibri Light"/>
              </a:rPr>
              <a:t>Click to edit Master title style</a:t>
            </a:r>
            <a:endParaRPr lang="en-US" sz="4400" b="0" strike="noStrike" spc="-1">
              <a:solidFill>
                <a:schemeClr val="dk1"/>
              </a:solidFill>
              <a:latin typeface="Calibri"/>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Fifth level</a:t>
            </a: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86EFECB7-7CDF-4B3A-9CC2-3013E49E94CD}"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1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Calibri Light"/>
              </a:rPr>
              <a:t>Click to edit Master title style</a:t>
            </a:r>
            <a:endParaRPr lang="en-US" sz="4400" b="0" strike="noStrike" spc="-1">
              <a:solidFill>
                <a:schemeClr val="dk1"/>
              </a:solidFill>
              <a:latin typeface="Calibri"/>
            </a:endParaRPr>
          </a:p>
        </p:txBody>
      </p:sp>
      <p:sp>
        <p:nvSpPr>
          <p:cNvPr id="19"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Fifth level</a:t>
            </a:r>
          </a:p>
        </p:txBody>
      </p:sp>
      <p:sp>
        <p:nvSpPr>
          <p:cNvPr id="20"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1"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2"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3B0B70DA-3F39-4158-9741-52EF1730EE65}"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strike="noStrike" spc="-1">
                <a:solidFill>
                  <a:schemeClr val="dk1"/>
                </a:solidFill>
                <a:latin typeface="Calibri Light"/>
              </a:rPr>
              <a:t>Click to edit Master title style</a:t>
            </a:r>
            <a:endParaRPr lang="en-US" sz="6000" b="0" strike="noStrike" spc="-1">
              <a:solidFill>
                <a:schemeClr val="dk1"/>
              </a:solidFill>
              <a:latin typeface="Calibri"/>
            </a:endParaRPr>
          </a:p>
        </p:txBody>
      </p:sp>
      <p:sp>
        <p:nvSpPr>
          <p:cNvPr id="26"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strike="noStrike" spc="-1">
                <a:solidFill>
                  <a:schemeClr val="dk1">
                    <a:tint val="75000"/>
                  </a:schemeClr>
                </a:solidFill>
                <a:latin typeface="Calibri"/>
              </a:rPr>
              <a:t>Click to edit Master text styles</a:t>
            </a:r>
            <a:endParaRPr lang="en-US" sz="2400" b="0" strike="noStrike" spc="-1">
              <a:solidFill>
                <a:schemeClr val="dk1"/>
              </a:solidFill>
              <a:latin typeface="Calibri"/>
            </a:endParaRPr>
          </a:p>
        </p:txBody>
      </p:sp>
      <p:sp>
        <p:nvSpPr>
          <p:cNvPr id="27"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8"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9"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6FABA90C-7042-4896-B2C6-84073872646B}"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Calibri Light"/>
              </a:rPr>
              <a:t>Click to edit Master title style</a:t>
            </a:r>
            <a:endParaRPr lang="en-US" sz="4400" b="0" strike="noStrike" spc="-1">
              <a:solidFill>
                <a:schemeClr val="dk1"/>
              </a:solidFill>
              <a:latin typeface="Calibri"/>
            </a:endParaRPr>
          </a:p>
        </p:txBody>
      </p:sp>
      <p:sp>
        <p:nvSpPr>
          <p:cNvPr id="31"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Fifth level</a:t>
            </a:r>
          </a:p>
        </p:txBody>
      </p:sp>
      <p:sp>
        <p:nvSpPr>
          <p:cNvPr id="32"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Fifth level</a:t>
            </a:r>
          </a:p>
        </p:txBody>
      </p:sp>
      <p:sp>
        <p:nvSpPr>
          <p:cNvPr id="33"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34"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5"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9DBF92F7-DAE7-4FFD-8EFB-CE891242ABE9}"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Calibri Light"/>
              </a:rPr>
              <a:t>Click to edit Master title style</a:t>
            </a:r>
            <a:endParaRPr lang="en-US" sz="4400" b="0" strike="noStrike" spc="-1">
              <a:solidFill>
                <a:schemeClr val="dk1"/>
              </a:solidFill>
              <a:latin typeface="Calibri"/>
            </a:endParaRPr>
          </a:p>
        </p:txBody>
      </p:sp>
      <p:sp>
        <p:nvSpPr>
          <p:cNvPr id="40"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41"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Fifth level</a:t>
            </a:r>
          </a:p>
        </p:txBody>
      </p:sp>
      <p:sp>
        <p:nvSpPr>
          <p:cNvPr id="42"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43"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Fifth level</a:t>
            </a:r>
          </a:p>
        </p:txBody>
      </p:sp>
      <p:sp>
        <p:nvSpPr>
          <p:cNvPr id="44"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45"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6"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E4D2CF38-0E25-474B-94D9-E5F501D58630}"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Calibri Light"/>
              </a:rPr>
              <a:t>Click to edit Master title style</a:t>
            </a:r>
            <a:endParaRPr lang="en-US" sz="4400" b="0" strike="noStrike" spc="-1">
              <a:solidFill>
                <a:schemeClr val="dk1"/>
              </a:solidFill>
              <a:latin typeface="Calibri"/>
            </a:endParaRPr>
          </a:p>
        </p:txBody>
      </p:sp>
      <p:sp>
        <p:nvSpPr>
          <p:cNvPr id="48"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49"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0"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0B939FF7-9A40-46E5-941A-E85951A6A8CC}"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53"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4"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3DA55D33-A00A-4963-9C85-0739858EDA08}"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5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5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spc="-1">
                <a:solidFill>
                  <a:schemeClr val="dk1"/>
                </a:solidFill>
                <a:latin typeface="Calibri Light"/>
              </a:rPr>
              <a:t>Click to edit Master title style</a:t>
            </a:r>
            <a:endParaRPr lang="en-US" sz="3200" b="0" strike="noStrike" spc="-1">
              <a:solidFill>
                <a:schemeClr val="dk1"/>
              </a:solidFill>
              <a:latin typeface="Calibri"/>
            </a:endParaRPr>
          </a:p>
        </p:txBody>
      </p:sp>
      <p:sp>
        <p:nvSpPr>
          <p:cNvPr id="5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strike="noStrike" spc="-1">
                <a:solidFill>
                  <a:schemeClr val="dk1"/>
                </a:solidFill>
                <a:latin typeface="Calibri"/>
              </a:rPr>
              <a:t>Click to edit Master text styles</a:t>
            </a:r>
          </a:p>
          <a:p>
            <a:pPr marL="685800" lvl="1" indent="-228600" defTabSz="914400">
              <a:lnSpc>
                <a:spcPct val="90000"/>
              </a:lnSpc>
              <a:spcBef>
                <a:spcPts val="499"/>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Fifth level</a:t>
            </a:r>
          </a:p>
        </p:txBody>
      </p:sp>
      <p:sp>
        <p:nvSpPr>
          <p:cNvPr id="5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strike="noStrike" spc="-1">
                <a:solidFill>
                  <a:schemeClr val="dk1"/>
                </a:solidFill>
                <a:latin typeface="Calibri"/>
              </a:rPr>
              <a:t>Click to edit Master text styles</a:t>
            </a:r>
          </a:p>
        </p:txBody>
      </p:sp>
      <p:sp>
        <p:nvSpPr>
          <p:cNvPr id="6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6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6BBA68A8-C205-4589-BDC0-6452304CA22C}"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spc="-1">
                <a:solidFill>
                  <a:schemeClr val="dk1"/>
                </a:solidFill>
                <a:latin typeface="Calibri Light"/>
              </a:rPr>
              <a:t>Click to edit Master title style</a:t>
            </a:r>
            <a:endParaRPr lang="en-US" sz="3200" b="0" strike="noStrike" spc="-1">
              <a:solidFill>
                <a:schemeClr val="dk1"/>
              </a:solidFill>
              <a:latin typeface="Calibri"/>
            </a:endParaRPr>
          </a:p>
        </p:txBody>
      </p:sp>
      <p:sp>
        <p:nvSpPr>
          <p:cNvPr id="64"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32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32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32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Calibri"/>
              </a:rPr>
              <a:t>Seventh Outline Level</a:t>
            </a:r>
          </a:p>
        </p:txBody>
      </p:sp>
      <p:sp>
        <p:nvSpPr>
          <p:cNvPr id="6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strike="noStrike" spc="-1">
                <a:solidFill>
                  <a:schemeClr val="dk1"/>
                </a:solidFill>
                <a:latin typeface="Calibri"/>
              </a:rPr>
              <a:t>Click to edit Master text styles</a:t>
            </a:r>
          </a:p>
        </p:txBody>
      </p:sp>
      <p:sp>
        <p:nvSpPr>
          <p:cNvPr id="6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6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C09F294E-EF77-4502-B2F6-0267F17A6BED}"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threadsync/clawrity"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hyperlink" Target="https://www.youtube.com/watch?v=sXboHHSg4_k" TargetMode="External"/><Relationship Id="rId4" Type="http://schemas.openxmlformats.org/officeDocument/2006/relationships/hyperlink" Target="https://github.com/threadsync/clawrity/blob/main/clawrity-demo.mp4"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98"/>
          <p:cNvPicPr/>
          <p:nvPr/>
        </p:nvPicPr>
        <p:blipFill>
          <a:blip r:embed="rId2"/>
          <a:srcRect l="35214" t="9861" r="35721" b="40504"/>
          <a:stretch/>
        </p:blipFill>
        <p:spPr>
          <a:xfrm>
            <a:off x="7372440" y="1619640"/>
            <a:ext cx="4421160" cy="5637960"/>
          </a:xfrm>
          <a:prstGeom prst="rect">
            <a:avLst/>
          </a:prstGeom>
          <a:ln w="0">
            <a:noFill/>
          </a:ln>
        </p:spPr>
      </p:pic>
      <p:sp>
        <p:nvSpPr>
          <p:cNvPr id="76" name="TextBox 74"/>
          <p:cNvSpPr/>
          <p:nvPr/>
        </p:nvSpPr>
        <p:spPr>
          <a:xfrm>
            <a:off x="0" y="604440"/>
            <a:ext cx="218232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strike="noStrike" spc="-1">
                <a:solidFill>
                  <a:schemeClr val="dk1"/>
                </a:solidFill>
                <a:latin typeface="Berlin Sans FB Demi"/>
                <a:ea typeface="SamsungOne 800"/>
              </a:rPr>
              <a:t>CLASH OF THE</a:t>
            </a:r>
            <a:endParaRPr lang="en-US" sz="2000" b="0" strike="noStrike" spc="-1">
              <a:solidFill>
                <a:srgbClr val="000000"/>
              </a:solidFill>
              <a:latin typeface="Arial"/>
            </a:endParaRPr>
          </a:p>
        </p:txBody>
      </p:sp>
      <p:sp>
        <p:nvSpPr>
          <p:cNvPr id="77" name="TextBox 92"/>
          <p:cNvSpPr/>
          <p:nvPr/>
        </p:nvSpPr>
        <p:spPr>
          <a:xfrm>
            <a:off x="1756080" y="435960"/>
            <a:ext cx="20908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3600" b="1" strike="noStrike" spc="-1">
                <a:solidFill>
                  <a:srgbClr val="E81B25"/>
                </a:solidFill>
                <a:latin typeface="Berlin Sans FB Demi"/>
                <a:ea typeface="SamsungOne 800"/>
              </a:rPr>
              <a:t>CLAWS</a:t>
            </a:r>
            <a:endParaRPr lang="en-US" sz="3600" b="0" strike="noStrike" spc="-1">
              <a:solidFill>
                <a:srgbClr val="000000"/>
              </a:solidFill>
              <a:latin typeface="Arial"/>
            </a:endParaRPr>
          </a:p>
        </p:txBody>
      </p:sp>
      <p:sp>
        <p:nvSpPr>
          <p:cNvPr id="78" name="TextBox 99"/>
          <p:cNvSpPr/>
          <p:nvPr/>
        </p:nvSpPr>
        <p:spPr>
          <a:xfrm>
            <a:off x="0" y="1781995"/>
            <a:ext cx="8309793" cy="508711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4000" b="1" spc="-1" dirty="0">
                <a:solidFill>
                  <a:srgbClr val="E81B25"/>
                </a:solidFill>
                <a:latin typeface="Berlin Sans FB Demi"/>
              </a:rPr>
              <a:t>M S Ramaiah Institute of </a:t>
            </a:r>
            <a:r>
              <a:rPr lang="en-US" sz="4000" b="1" spc="-1" dirty="0" err="1">
                <a:solidFill>
                  <a:srgbClr val="E81B25"/>
                </a:solidFill>
                <a:latin typeface="Berlin Sans FB Demi"/>
              </a:rPr>
              <a:t>Technology_Low</a:t>
            </a:r>
            <a:r>
              <a:rPr lang="en-US" sz="4000" b="1" spc="-1" dirty="0">
                <a:solidFill>
                  <a:srgbClr val="E81B25"/>
                </a:solidFill>
                <a:latin typeface="Berlin Sans FB Demi"/>
              </a:rPr>
              <a:t> Cortisol Coders</a:t>
            </a:r>
          </a:p>
          <a:p>
            <a:endParaRPr lang="en-US" sz="4000" b="1" strike="noStrike" spc="-1" dirty="0">
              <a:solidFill>
                <a:srgbClr val="E81B25"/>
              </a:solidFill>
              <a:latin typeface="Berlin Sans FB Demi"/>
            </a:endParaRPr>
          </a:p>
          <a:p>
            <a:r>
              <a:rPr lang="en-US" sz="4000" b="1" strike="noStrike" spc="-1" dirty="0" err="1">
                <a:solidFill>
                  <a:srgbClr val="E81B25"/>
                </a:solidFill>
                <a:latin typeface="Berlin Sans FB Demi"/>
              </a:rPr>
              <a:t>Clawrity</a:t>
            </a:r>
            <a:endParaRPr lang="en-US" sz="4000" b="0" strike="noStrike" spc="-1" dirty="0">
              <a:solidFill>
                <a:srgbClr val="000000"/>
              </a:solidFill>
              <a:latin typeface="Arial"/>
            </a:endParaRPr>
          </a:p>
          <a:p>
            <a:pPr defTabSz="914400">
              <a:lnSpc>
                <a:spcPct val="100000"/>
              </a:lnSpc>
            </a:pPr>
            <a:r>
              <a:rPr lang="en-US" sz="2800" b="1" strike="noStrike" spc="-1" dirty="0">
                <a:solidFill>
                  <a:srgbClr val="E81B25"/>
                </a:solidFill>
                <a:latin typeface="Berlin Sans FB Demi"/>
              </a:rPr>
              <a:t>AI Business Intelligence Agent</a:t>
            </a:r>
            <a:endParaRPr lang="en-US" sz="2800" b="0" strike="noStrike" spc="-1" dirty="0">
              <a:solidFill>
                <a:srgbClr val="000000"/>
              </a:solidFill>
              <a:latin typeface="Arial"/>
            </a:endParaRPr>
          </a:p>
          <a:p>
            <a:pPr defTabSz="914400">
              <a:lnSpc>
                <a:spcPct val="100000"/>
              </a:lnSpc>
            </a:pPr>
            <a:r>
              <a:rPr lang="en-US" sz="2200" b="1" strike="noStrike" spc="-1" dirty="0">
                <a:solidFill>
                  <a:srgbClr val="E81B25"/>
                </a:solidFill>
                <a:latin typeface="Berlin Sans FB Demi"/>
              </a:rPr>
              <a:t>Powered by </a:t>
            </a:r>
            <a:r>
              <a:rPr lang="en-US" sz="2200" b="1" strike="noStrike" spc="-1" dirty="0" err="1">
                <a:solidFill>
                  <a:srgbClr val="E81B25"/>
                </a:solidFill>
                <a:latin typeface="Berlin Sans FB Demi"/>
              </a:rPr>
              <a:t>OpenClaw</a:t>
            </a:r>
            <a:endParaRPr lang="en-US" sz="2200" b="0" strike="noStrike" spc="-1" dirty="0">
              <a:solidFill>
                <a:srgbClr val="000000"/>
              </a:solidFill>
              <a:latin typeface="Arial"/>
            </a:endParaRPr>
          </a:p>
          <a:p>
            <a:pPr defTabSz="914400">
              <a:lnSpc>
                <a:spcPct val="100000"/>
              </a:lnSpc>
              <a:spcBef>
                <a:spcPts val="799"/>
              </a:spcBef>
            </a:pPr>
            <a:endParaRPr lang="en-US" sz="1800" b="0" strike="noStrike" spc="-1" dirty="0">
              <a:solidFill>
                <a:srgbClr val="000000"/>
              </a:solidFill>
              <a:latin typeface="Arial"/>
            </a:endParaRPr>
          </a:p>
          <a:p>
            <a:pPr defTabSz="914400">
              <a:lnSpc>
                <a:spcPct val="100000"/>
              </a:lnSpc>
              <a:spcBef>
                <a:spcPts val="799"/>
              </a:spcBef>
            </a:pPr>
            <a:r>
              <a:rPr lang="en-US" spc="-1" dirty="0">
                <a:latin typeface="Arial"/>
              </a:rPr>
              <a:t>Manoj H V – 1MS24CS094@msrit.edu</a:t>
            </a:r>
          </a:p>
          <a:p>
            <a:pPr defTabSz="914400">
              <a:lnSpc>
                <a:spcPct val="100000"/>
              </a:lnSpc>
              <a:spcBef>
                <a:spcPts val="799"/>
              </a:spcBef>
            </a:pPr>
            <a:r>
              <a:rPr lang="en-US" spc="-1" dirty="0">
                <a:latin typeface="Arial"/>
              </a:rPr>
              <a:t>Mohammed Farhan – 1MS24CS100@msrit.edu</a:t>
            </a:r>
          </a:p>
          <a:p>
            <a:pPr defTabSz="914400">
              <a:lnSpc>
                <a:spcPct val="100000"/>
              </a:lnSpc>
              <a:spcBef>
                <a:spcPts val="799"/>
              </a:spcBef>
            </a:pPr>
            <a:r>
              <a:rPr lang="en-US" sz="1800" b="0" strike="noStrike" spc="-1" dirty="0">
                <a:latin typeface="Arial"/>
              </a:rPr>
              <a:t>K S Tanish – 1MS24CS074@msrit.edu</a:t>
            </a:r>
          </a:p>
          <a:p>
            <a:pPr defTabSz="914400">
              <a:lnSpc>
                <a:spcPct val="100000"/>
              </a:lnSpc>
            </a:pPr>
            <a:r>
              <a:rPr lang="en-US" sz="1600" b="1" strike="noStrike" spc="-1" dirty="0">
                <a:solidFill>
                  <a:srgbClr val="FFFFFF"/>
                </a:solidFill>
                <a:latin typeface="Berlin Sans FB Demi"/>
              </a:rPr>
              <a:t>&lt;Members Names&gt;</a:t>
            </a:r>
            <a:endParaRPr lang="en-US" sz="1600" b="0" strike="noStrike" spc="-1" dirty="0">
              <a:solidFill>
                <a:srgbClr val="000000"/>
              </a:solidFill>
              <a:latin typeface="Arial"/>
            </a:endParaRPr>
          </a:p>
        </p:txBody>
      </p:sp>
      <p:grpSp>
        <p:nvGrpSpPr>
          <p:cNvPr id="79" name="Group 1"/>
          <p:cNvGrpSpPr/>
          <p:nvPr/>
        </p:nvGrpSpPr>
        <p:grpSpPr>
          <a:xfrm>
            <a:off x="137520" y="46800"/>
            <a:ext cx="3813480" cy="748800"/>
            <a:chOff x="137520" y="46800"/>
            <a:chExt cx="3813480" cy="748800"/>
          </a:xfrm>
        </p:grpSpPr>
        <p:pic>
          <p:nvPicPr>
            <p:cNvPr id="80" name="Picture 20"/>
            <p:cNvPicPr/>
            <p:nvPr/>
          </p:nvPicPr>
          <p:blipFill>
            <a:blip r:embed="rId3"/>
            <a:stretch/>
          </p:blipFill>
          <p:spPr>
            <a:xfrm>
              <a:off x="137520" y="46800"/>
              <a:ext cx="974160" cy="638640"/>
            </a:xfrm>
            <a:prstGeom prst="rect">
              <a:avLst/>
            </a:prstGeom>
            <a:ln w="0">
              <a:noFill/>
            </a:ln>
          </p:spPr>
        </p:pic>
        <p:sp>
          <p:nvSpPr>
            <p:cNvPr id="81" name="TextBox 6"/>
            <p:cNvSpPr/>
            <p:nvPr/>
          </p:nvSpPr>
          <p:spPr>
            <a:xfrm>
              <a:off x="1017720" y="157320"/>
              <a:ext cx="2933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1" strike="noStrike" spc="-1">
                  <a:solidFill>
                    <a:schemeClr val="dk1"/>
                  </a:solidFill>
                  <a:latin typeface="Berlin Sans FB Demi"/>
                  <a:ea typeface="SamsungOne 800"/>
                </a:rPr>
                <a:t>| Tech Management, SRI-B</a:t>
              </a:r>
              <a:endParaRPr lang="en-US" sz="1800" b="0" strike="noStrike" spc="-1">
                <a:solidFill>
                  <a:srgbClr val="000000"/>
                </a:solidFill>
                <a:latin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83"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4"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85"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Problem Statement</a:t>
            </a:r>
            <a:endParaRPr lang="en-US" sz="4300" b="0" strike="noStrike" spc="-1">
              <a:solidFill>
                <a:srgbClr val="000000"/>
              </a:solidFill>
              <a:latin typeface="Arial"/>
            </a:endParaRPr>
          </a:p>
        </p:txBody>
      </p:sp>
      <p:sp>
        <p:nvSpPr>
          <p:cNvPr id="86"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26670" b="0" strike="noStrike" spc="-1">
              <a:solidFill>
                <a:schemeClr val="dk1"/>
              </a:solidFill>
              <a:latin typeface="Calibri"/>
            </a:endParaRPr>
          </a:p>
        </p:txBody>
      </p:sp>
      <p:sp>
        <p:nvSpPr>
          <p:cNvPr id="87" name="TextBox 8"/>
          <p:cNvSpPr/>
          <p:nvPr/>
        </p:nvSpPr>
        <p:spPr>
          <a:xfrm>
            <a:off x="740520" y="1683000"/>
            <a:ext cx="5253880" cy="397399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spcAft>
                <a:spcPts val="300"/>
              </a:spcAft>
            </a:pPr>
            <a:r>
              <a:rPr lang="en-US" sz="1400" b="1" strike="noStrike" spc="-1" dirty="0">
                <a:solidFill>
                  <a:srgbClr val="000000"/>
                </a:solidFill>
                <a:latin typeface="Calibri"/>
              </a:rPr>
              <a:t>Theme: Productivity × GenAI</a:t>
            </a:r>
          </a:p>
          <a:p>
            <a:pPr defTabSz="914400">
              <a:lnSpc>
                <a:spcPct val="100000"/>
              </a:lnSpc>
              <a:spcAft>
                <a:spcPts val="300"/>
              </a:spcAft>
            </a:pPr>
            <a:endParaRPr lang="en-US" sz="1400" b="0" strike="noStrike" spc="-1" dirty="0">
              <a:solidFill>
                <a:srgbClr val="000000"/>
              </a:solidFill>
              <a:latin typeface="Arial"/>
            </a:endParaRPr>
          </a:p>
          <a:p>
            <a:pPr>
              <a:spcAft>
                <a:spcPts val="201"/>
              </a:spcAft>
            </a:pPr>
            <a:r>
              <a:rPr lang="en-US" sz="1400" b="1" spc="-1" dirty="0">
                <a:solidFill>
                  <a:srgbClr val="000000"/>
                </a:solidFill>
                <a:latin typeface="Arial"/>
              </a:rPr>
              <a:t>73% of enterprise data goes unused.</a:t>
            </a:r>
          </a:p>
          <a:p>
            <a:pPr>
              <a:spcAft>
                <a:spcPts val="201"/>
              </a:spcAft>
            </a:pPr>
            <a:r>
              <a:rPr lang="en-US" sz="1200" spc="-1" dirty="0">
                <a:solidFill>
                  <a:srgbClr val="000000"/>
                </a:solidFill>
                <a:latin typeface="Arial"/>
              </a:rPr>
              <a:t>The problem isn’t data availability. It’s data accessibility.</a:t>
            </a:r>
          </a:p>
          <a:p>
            <a:pPr>
              <a:spcAft>
                <a:spcPts val="201"/>
              </a:spcAft>
            </a:pPr>
            <a:endParaRPr lang="en-US" sz="1200" spc="-1" dirty="0">
              <a:solidFill>
                <a:srgbClr val="000000"/>
              </a:solidFill>
              <a:latin typeface="Arial"/>
            </a:endParaRPr>
          </a:p>
          <a:p>
            <a:pPr>
              <a:spcAft>
                <a:spcPts val="201"/>
              </a:spcAft>
            </a:pPr>
            <a:r>
              <a:rPr lang="en-US" sz="1200" spc="-1" dirty="0">
                <a:solidFill>
                  <a:srgbClr val="000000"/>
                </a:solidFill>
                <a:latin typeface="Arial"/>
              </a:rPr>
              <a:t> </a:t>
            </a:r>
            <a:r>
              <a:rPr lang="en-US" sz="1200" b="1" spc="-1" dirty="0">
                <a:solidFill>
                  <a:srgbClr val="000000"/>
                </a:solidFill>
                <a:latin typeface="Arial"/>
              </a:rPr>
              <a:t>Business Teams:</a:t>
            </a:r>
            <a:r>
              <a:rPr lang="en-US" sz="1200" spc="-1" dirty="0">
                <a:solidFill>
                  <a:srgbClr val="000000"/>
                </a:solidFill>
                <a:latin typeface="Arial"/>
              </a:rPr>
              <a:t> Waste 3-5 </a:t>
            </a:r>
            <a:r>
              <a:rPr lang="en-US" sz="1200" spc="-1" dirty="0" err="1">
                <a:solidFill>
                  <a:srgbClr val="000000"/>
                </a:solidFill>
                <a:latin typeface="Arial"/>
              </a:rPr>
              <a:t>hrs</a:t>
            </a:r>
            <a:r>
              <a:rPr lang="en-US" sz="1200" spc="-1" dirty="0">
                <a:solidFill>
                  <a:srgbClr val="000000"/>
                </a:solidFill>
                <a:latin typeface="Arial"/>
              </a:rPr>
              <a:t>/week chasing analysts.</a:t>
            </a:r>
          </a:p>
          <a:p>
            <a:pPr>
              <a:spcAft>
                <a:spcPts val="201"/>
              </a:spcAft>
            </a:pPr>
            <a:endParaRPr lang="en-US" sz="1200" spc="-1" dirty="0">
              <a:solidFill>
                <a:srgbClr val="000000"/>
              </a:solidFill>
              <a:latin typeface="Arial"/>
            </a:endParaRPr>
          </a:p>
          <a:p>
            <a:pPr>
              <a:spcAft>
                <a:spcPts val="201"/>
              </a:spcAft>
            </a:pPr>
            <a:r>
              <a:rPr lang="en-US" sz="1200" spc="-1" dirty="0">
                <a:solidFill>
                  <a:srgbClr val="000000"/>
                </a:solidFill>
                <a:latin typeface="Arial"/>
              </a:rPr>
              <a:t> </a:t>
            </a:r>
            <a:r>
              <a:rPr lang="en-US" sz="1200" b="1" spc="-1" dirty="0">
                <a:solidFill>
                  <a:srgbClr val="000000"/>
                </a:solidFill>
                <a:latin typeface="Arial"/>
              </a:rPr>
              <a:t>Analysts:</a:t>
            </a:r>
            <a:r>
              <a:rPr lang="en-US" sz="1200" spc="-1" dirty="0">
                <a:solidFill>
                  <a:srgbClr val="000000"/>
                </a:solidFill>
                <a:latin typeface="Arial"/>
              </a:rPr>
              <a:t> Lose 40% of their time on repetitive ad-hoc queries.</a:t>
            </a:r>
          </a:p>
          <a:p>
            <a:pPr>
              <a:spcAft>
                <a:spcPts val="201"/>
              </a:spcAft>
            </a:pPr>
            <a:endParaRPr lang="en-US" sz="1200" spc="-1" dirty="0">
              <a:solidFill>
                <a:srgbClr val="000000"/>
              </a:solidFill>
              <a:latin typeface="Arial"/>
            </a:endParaRPr>
          </a:p>
          <a:p>
            <a:pPr>
              <a:spcAft>
                <a:spcPts val="201"/>
              </a:spcAft>
            </a:pPr>
            <a:r>
              <a:rPr lang="en-US" sz="1200" b="1" spc="-1" dirty="0">
                <a:solidFill>
                  <a:srgbClr val="000000"/>
                </a:solidFill>
                <a:latin typeface="Arial"/>
              </a:rPr>
              <a:t> Executives:</a:t>
            </a:r>
            <a:r>
              <a:rPr lang="en-US" sz="1200" spc="-1" dirty="0">
                <a:solidFill>
                  <a:srgbClr val="000000"/>
                </a:solidFill>
                <a:latin typeface="Arial"/>
              </a:rPr>
              <a:t> Delayed decisions based on stale, 40-page weekly reports.</a:t>
            </a:r>
            <a:endParaRPr lang="en-US" sz="1200" b="0" strike="noStrike" spc="-1" dirty="0">
              <a:solidFill>
                <a:srgbClr val="000000"/>
              </a:solidFill>
              <a:latin typeface="Arial"/>
            </a:endParaRPr>
          </a:p>
          <a:p>
            <a:pPr defTabSz="914400">
              <a:lnSpc>
                <a:spcPct val="100000"/>
              </a:lnSpc>
              <a:spcAft>
                <a:spcPts val="300"/>
              </a:spcAft>
            </a:pPr>
            <a:endParaRPr lang="en-US" sz="1200" b="1" strike="noStrike" spc="-1" dirty="0">
              <a:solidFill>
                <a:srgbClr val="000000"/>
              </a:solidFill>
              <a:latin typeface="Calibri"/>
            </a:endParaRPr>
          </a:p>
          <a:p>
            <a:pPr defTabSz="914400">
              <a:lnSpc>
                <a:spcPct val="100000"/>
              </a:lnSpc>
              <a:spcAft>
                <a:spcPts val="300"/>
              </a:spcAft>
            </a:pPr>
            <a:r>
              <a:rPr lang="en-US" sz="1400" b="1" strike="noStrike" spc="-1" dirty="0">
                <a:solidFill>
                  <a:srgbClr val="000000"/>
                </a:solidFill>
                <a:latin typeface="Calibri"/>
              </a:rPr>
              <a:t>WHY IT MATTERS</a:t>
            </a:r>
            <a:endParaRPr lang="en-US" sz="1400" b="0" strike="noStrike" spc="-1" dirty="0">
              <a:solidFill>
                <a:srgbClr val="000000"/>
              </a:solidFill>
              <a:latin typeface="Arial"/>
            </a:endParaRPr>
          </a:p>
          <a:p>
            <a:pPr defTabSz="914400">
              <a:lnSpc>
                <a:spcPct val="100000"/>
              </a:lnSpc>
              <a:spcAft>
                <a:spcPts val="300"/>
              </a:spcAft>
            </a:pPr>
            <a:r>
              <a:rPr lang="en-US" sz="1200" b="0" strike="noStrike" spc="-1" dirty="0">
                <a:solidFill>
                  <a:srgbClr val="000000"/>
                </a:solidFill>
                <a:latin typeface="Calibri"/>
              </a:rPr>
              <a:t>• 73% of enterprise data goes unused for analytics (Forrester)</a:t>
            </a:r>
            <a:endParaRPr lang="en-US" sz="1200" b="0" strike="noStrike" spc="-1" dirty="0">
              <a:solidFill>
                <a:srgbClr val="000000"/>
              </a:solidFill>
              <a:latin typeface="Arial"/>
            </a:endParaRPr>
          </a:p>
          <a:p>
            <a:pPr defTabSz="914400">
              <a:lnSpc>
                <a:spcPct val="100000"/>
              </a:lnSpc>
              <a:spcAft>
                <a:spcPts val="300"/>
              </a:spcAft>
            </a:pPr>
            <a:r>
              <a:rPr lang="en-US" sz="1200" b="0" strike="noStrike" spc="-1" dirty="0">
                <a:solidFill>
                  <a:srgbClr val="000000"/>
                </a:solidFill>
                <a:latin typeface="Calibri"/>
              </a:rPr>
              <a:t>• The gap isn't data availability — it's data ACCESSIBILITY</a:t>
            </a:r>
          </a:p>
          <a:p>
            <a:pPr>
              <a:spcAft>
                <a:spcPts val="300"/>
              </a:spcAft>
            </a:pPr>
            <a:r>
              <a:rPr lang="en-US" sz="1200" spc="-1" dirty="0">
                <a:solidFill>
                  <a:srgbClr val="000000"/>
                </a:solidFill>
              </a:rPr>
              <a:t>Organizations are drowning in data but starving for answers; because data is inaccessible to non-technical users, analysts waste 40% of their time acting as human query engines while business leaders are forced to make delayed decisions on stale reports.</a:t>
            </a:r>
            <a:endParaRPr lang="en-US" sz="1200" b="0" strike="noStrike" spc="-1" dirty="0">
              <a:solidFill>
                <a:srgbClr val="000000"/>
              </a:solidFill>
            </a:endParaRPr>
          </a:p>
        </p:txBody>
      </p:sp>
      <p:sp>
        <p:nvSpPr>
          <p:cNvPr id="88" name="TextBox 9"/>
          <p:cNvSpPr/>
          <p:nvPr/>
        </p:nvSpPr>
        <p:spPr>
          <a:xfrm>
            <a:off x="6670080" y="4145760"/>
            <a:ext cx="2759760" cy="22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i="1" strike="noStrike" spc="-1">
                <a:solidFill>
                  <a:srgbClr val="000000"/>
                </a:solidFill>
                <a:latin typeface="Calibri"/>
              </a:rPr>
              <a:t>Theme: Productivity × GenAI</a:t>
            </a:r>
            <a:endParaRPr lang="en-US" sz="900" b="0" strike="noStrike" spc="-1">
              <a:solidFill>
                <a:srgbClr val="000000"/>
              </a:solidFill>
              <a:latin typeface="Arial"/>
            </a:endParaRPr>
          </a:p>
        </p:txBody>
      </p:sp>
      <p:pic>
        <p:nvPicPr>
          <p:cNvPr id="3" name="Picture 2">
            <a:extLst>
              <a:ext uri="{FF2B5EF4-FFF2-40B4-BE49-F238E27FC236}">
                <a16:creationId xmlns:a16="http://schemas.microsoft.com/office/drawing/2014/main" id="{8BC85684-D59B-5E03-FC74-7D117F9B1600}"/>
              </a:ext>
            </a:extLst>
          </p:cNvPr>
          <p:cNvPicPr>
            <a:picLocks noChangeAspect="1"/>
          </p:cNvPicPr>
          <p:nvPr/>
        </p:nvPicPr>
        <p:blipFill>
          <a:blip r:embed="rId3">
            <a:extLst>
              <a:ext uri="{28A0092B-C50C-407E-A947-70E740481C1C}">
                <a14:useLocalDpi xmlns:a14="http://schemas.microsoft.com/office/drawing/2010/main" val="0"/>
              </a:ext>
            </a:extLst>
          </a:blip>
          <a:srcRect t="1365" b="1963"/>
          <a:stretch>
            <a:fillRect/>
          </a:stretch>
        </p:blipFill>
        <p:spPr>
          <a:xfrm>
            <a:off x="6095700" y="1193800"/>
            <a:ext cx="5570281" cy="41831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90"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1"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92"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Current Solutions &amp; Gaps</a:t>
            </a:r>
            <a:endParaRPr lang="en-US" sz="4300" b="0" strike="noStrike" spc="-1">
              <a:solidFill>
                <a:srgbClr val="000000"/>
              </a:solidFill>
              <a:latin typeface="Arial"/>
            </a:endParaRPr>
          </a:p>
        </p:txBody>
      </p:sp>
      <p:sp>
        <p:nvSpPr>
          <p:cNvPr id="93"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26670" b="0" strike="noStrike" spc="-1">
              <a:solidFill>
                <a:schemeClr val="dk1"/>
              </a:solidFill>
              <a:latin typeface="Calibri"/>
            </a:endParaRPr>
          </a:p>
        </p:txBody>
      </p:sp>
      <p:sp>
        <p:nvSpPr>
          <p:cNvPr id="94" name="TextBox 8"/>
          <p:cNvSpPr/>
          <p:nvPr/>
        </p:nvSpPr>
        <p:spPr>
          <a:xfrm>
            <a:off x="609480" y="1683000"/>
            <a:ext cx="11582520" cy="469726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spcAft>
                <a:spcPts val="300"/>
              </a:spcAft>
            </a:pPr>
            <a:r>
              <a:rPr lang="en-US" sz="1400" b="1" strike="noStrike" spc="-1" dirty="0">
                <a:solidFill>
                  <a:srgbClr val="000000"/>
                </a:solidFill>
                <a:latin typeface="Calibri"/>
              </a:rPr>
              <a:t>EXISTING SOLUTIONS &amp; WHAT'S BROKEN</a:t>
            </a:r>
            <a:endParaRPr lang="en-US" sz="1400" b="0" strike="noStrike" spc="-1" dirty="0">
              <a:solidFill>
                <a:srgbClr val="000000"/>
              </a:solidFill>
              <a:latin typeface="Arial"/>
            </a:endParaRPr>
          </a:p>
          <a:p>
            <a:pPr defTabSz="914400">
              <a:lnSpc>
                <a:spcPct val="100000"/>
              </a:lnSpc>
              <a:spcAft>
                <a:spcPts val="201"/>
              </a:spcAft>
            </a:pPr>
            <a:endParaRPr lang="en-US" spc="-1" dirty="0">
              <a:solidFill>
                <a:srgbClr val="000000"/>
              </a:solidFill>
              <a:latin typeface="Arial"/>
            </a:endParaRPr>
          </a:p>
          <a:p>
            <a:pPr defTabSz="914400">
              <a:lnSpc>
                <a:spcPct val="100000"/>
              </a:lnSpc>
              <a:spcAft>
                <a:spcPts val="201"/>
              </a:spcAft>
            </a:pPr>
            <a:endParaRPr lang="en-US" sz="1800" b="0" strike="noStrike" spc="-1" dirty="0">
              <a:solidFill>
                <a:srgbClr val="000000"/>
              </a:solidFill>
              <a:latin typeface="Arial"/>
            </a:endParaRPr>
          </a:p>
          <a:p>
            <a:pPr defTabSz="914400">
              <a:lnSpc>
                <a:spcPct val="100000"/>
              </a:lnSpc>
              <a:spcAft>
                <a:spcPts val="201"/>
              </a:spcAft>
            </a:pPr>
            <a:endParaRPr lang="en-US" spc="-1" dirty="0">
              <a:solidFill>
                <a:srgbClr val="000000"/>
              </a:solidFill>
              <a:latin typeface="Arial"/>
            </a:endParaRPr>
          </a:p>
          <a:p>
            <a:pPr defTabSz="914400">
              <a:lnSpc>
                <a:spcPct val="100000"/>
              </a:lnSpc>
              <a:spcAft>
                <a:spcPts val="201"/>
              </a:spcAft>
            </a:pPr>
            <a:endParaRPr lang="en-US" sz="1800" b="0" strike="noStrike" spc="-1" dirty="0">
              <a:solidFill>
                <a:srgbClr val="000000"/>
              </a:solidFill>
              <a:latin typeface="Arial"/>
            </a:endParaRPr>
          </a:p>
          <a:p>
            <a:pPr defTabSz="914400">
              <a:lnSpc>
                <a:spcPct val="100000"/>
              </a:lnSpc>
              <a:spcAft>
                <a:spcPts val="201"/>
              </a:spcAft>
            </a:pPr>
            <a:endParaRPr lang="en-US" spc="-1" dirty="0">
              <a:solidFill>
                <a:srgbClr val="000000"/>
              </a:solidFill>
              <a:latin typeface="Arial"/>
            </a:endParaRPr>
          </a:p>
          <a:p>
            <a:pPr defTabSz="914400">
              <a:lnSpc>
                <a:spcPct val="100000"/>
              </a:lnSpc>
              <a:spcAft>
                <a:spcPts val="201"/>
              </a:spcAft>
            </a:pPr>
            <a:endParaRPr lang="en-US" sz="1800" b="0" strike="noStrike" spc="-1" dirty="0">
              <a:solidFill>
                <a:srgbClr val="000000"/>
              </a:solidFill>
              <a:latin typeface="Arial"/>
            </a:endParaRPr>
          </a:p>
          <a:p>
            <a:pPr defTabSz="914400">
              <a:lnSpc>
                <a:spcPct val="100000"/>
              </a:lnSpc>
              <a:spcAft>
                <a:spcPts val="201"/>
              </a:spcAft>
            </a:pPr>
            <a:endParaRPr lang="en-US" spc="-1" dirty="0">
              <a:solidFill>
                <a:srgbClr val="000000"/>
              </a:solidFill>
              <a:latin typeface="Arial"/>
            </a:endParaRPr>
          </a:p>
          <a:p>
            <a:pPr defTabSz="914400">
              <a:lnSpc>
                <a:spcPct val="100000"/>
              </a:lnSpc>
              <a:spcAft>
                <a:spcPts val="201"/>
              </a:spcAft>
            </a:pPr>
            <a:endParaRPr lang="en-US" sz="1800" b="0" strike="noStrike" spc="-1" dirty="0">
              <a:solidFill>
                <a:srgbClr val="000000"/>
              </a:solidFill>
              <a:latin typeface="Arial"/>
            </a:endParaRPr>
          </a:p>
          <a:p>
            <a:pPr defTabSz="914400">
              <a:lnSpc>
                <a:spcPct val="100000"/>
              </a:lnSpc>
              <a:spcAft>
                <a:spcPts val="300"/>
              </a:spcAft>
            </a:pPr>
            <a:endParaRPr lang="en-US" sz="1400" b="1" strike="noStrike" spc="-1" dirty="0">
              <a:solidFill>
                <a:srgbClr val="000000"/>
              </a:solidFill>
              <a:latin typeface="Calibri"/>
            </a:endParaRPr>
          </a:p>
          <a:p>
            <a:pPr defTabSz="914400">
              <a:lnSpc>
                <a:spcPct val="100000"/>
              </a:lnSpc>
              <a:spcAft>
                <a:spcPts val="300"/>
              </a:spcAft>
            </a:pPr>
            <a:endParaRPr lang="en-US" sz="1400" b="1" spc="-1" dirty="0">
              <a:solidFill>
                <a:srgbClr val="000000"/>
              </a:solidFill>
              <a:latin typeface="Calibri"/>
            </a:endParaRPr>
          </a:p>
          <a:p>
            <a:pPr defTabSz="914400">
              <a:lnSpc>
                <a:spcPct val="100000"/>
              </a:lnSpc>
              <a:spcAft>
                <a:spcPts val="300"/>
              </a:spcAft>
            </a:pPr>
            <a:endParaRPr lang="en-US" sz="1400" b="1" strike="noStrike" spc="-1" dirty="0">
              <a:solidFill>
                <a:srgbClr val="000000"/>
              </a:solidFill>
              <a:latin typeface="Calibri"/>
            </a:endParaRPr>
          </a:p>
          <a:p>
            <a:pPr defTabSz="914400">
              <a:lnSpc>
                <a:spcPct val="100000"/>
              </a:lnSpc>
              <a:spcAft>
                <a:spcPts val="300"/>
              </a:spcAft>
            </a:pPr>
            <a:endParaRPr lang="en-US" sz="1400" b="1" spc="-1" dirty="0">
              <a:solidFill>
                <a:srgbClr val="000000"/>
              </a:solidFill>
              <a:latin typeface="Calibri"/>
            </a:endParaRPr>
          </a:p>
          <a:p>
            <a:pPr defTabSz="914400">
              <a:lnSpc>
                <a:spcPct val="100000"/>
              </a:lnSpc>
              <a:spcAft>
                <a:spcPts val="300"/>
              </a:spcAft>
            </a:pPr>
            <a:endParaRPr lang="en-US" sz="1400" b="1" strike="noStrike" spc="-1" dirty="0">
              <a:solidFill>
                <a:srgbClr val="000000"/>
              </a:solidFill>
              <a:latin typeface="Calibri"/>
            </a:endParaRPr>
          </a:p>
          <a:p>
            <a:pPr defTabSz="914400">
              <a:lnSpc>
                <a:spcPct val="100000"/>
              </a:lnSpc>
              <a:spcAft>
                <a:spcPts val="300"/>
              </a:spcAft>
            </a:pPr>
            <a:r>
              <a:rPr lang="en-US" sz="1400" b="1" strike="noStrike" spc="-1" dirty="0">
                <a:solidFill>
                  <a:srgbClr val="000000"/>
                </a:solidFill>
                <a:latin typeface="Calibri"/>
              </a:rPr>
              <a:t>THE GAP</a:t>
            </a:r>
            <a:endParaRPr lang="en-US" sz="1400" b="0" strike="noStrike" spc="-1" dirty="0">
              <a:solidFill>
                <a:srgbClr val="000000"/>
              </a:solidFill>
              <a:latin typeface="Arial"/>
            </a:endParaRPr>
          </a:p>
          <a:p>
            <a:pPr defTabSz="914400">
              <a:lnSpc>
                <a:spcPct val="100000"/>
              </a:lnSpc>
              <a:spcAft>
                <a:spcPts val="300"/>
              </a:spcAft>
            </a:pPr>
            <a:r>
              <a:rPr lang="en-US" sz="1200" b="0" strike="noStrike" spc="-1" dirty="0">
                <a:solidFill>
                  <a:srgbClr val="000000"/>
                </a:solidFill>
                <a:latin typeface="Calibri"/>
              </a:rPr>
              <a:t>No solution that lives in Slack, connects to your actual database,</a:t>
            </a:r>
            <a:endParaRPr lang="en-US" sz="1200" b="0" strike="noStrike" spc="-1" dirty="0">
              <a:solidFill>
                <a:srgbClr val="000000"/>
              </a:solidFill>
              <a:latin typeface="Arial"/>
            </a:endParaRPr>
          </a:p>
          <a:p>
            <a:pPr defTabSz="914400">
              <a:lnSpc>
                <a:spcPct val="100000"/>
              </a:lnSpc>
              <a:spcAft>
                <a:spcPts val="300"/>
              </a:spcAft>
            </a:pPr>
            <a:r>
              <a:rPr lang="en-US" sz="1200" b="0" strike="noStrike" spc="-1" dirty="0">
                <a:solidFill>
                  <a:srgbClr val="000000"/>
                </a:solidFill>
                <a:latin typeface="Calibri"/>
              </a:rPr>
              <a:t>understands natural language, AND fact-checks its own answers.</a:t>
            </a:r>
            <a:endParaRPr lang="en-US" sz="1200" b="0" strike="noStrike" spc="-1" dirty="0">
              <a:solidFill>
                <a:srgbClr val="000000"/>
              </a:solidFill>
              <a:latin typeface="Arial"/>
            </a:endParaRPr>
          </a:p>
        </p:txBody>
      </p:sp>
      <p:pic>
        <p:nvPicPr>
          <p:cNvPr id="3" name="Picture 2">
            <a:extLst>
              <a:ext uri="{FF2B5EF4-FFF2-40B4-BE49-F238E27FC236}">
                <a16:creationId xmlns:a16="http://schemas.microsoft.com/office/drawing/2014/main" id="{BC7EDEFF-6C63-DBD3-E670-9619DF6162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25095" y="1969920"/>
            <a:ext cx="5238000" cy="3492000"/>
          </a:xfrm>
          <a:prstGeom prst="rect">
            <a:avLst/>
          </a:prstGeom>
        </p:spPr>
      </p:pic>
      <p:sp>
        <p:nvSpPr>
          <p:cNvPr id="4" name="TextBox 3">
            <a:extLst>
              <a:ext uri="{FF2B5EF4-FFF2-40B4-BE49-F238E27FC236}">
                <a16:creationId xmlns:a16="http://schemas.microsoft.com/office/drawing/2014/main" id="{3BB7C3D6-7510-1BA3-8A0F-8AE153460402}"/>
              </a:ext>
            </a:extLst>
          </p:cNvPr>
          <p:cNvSpPr txBox="1"/>
          <p:nvPr/>
        </p:nvSpPr>
        <p:spPr>
          <a:xfrm>
            <a:off x="6887209" y="5641604"/>
            <a:ext cx="3672114" cy="738664"/>
          </a:xfrm>
          <a:prstGeom prst="rect">
            <a:avLst/>
          </a:prstGeom>
          <a:noFill/>
        </p:spPr>
        <p:txBody>
          <a:bodyPr wrap="square" rtlCol="0">
            <a:spAutoFit/>
          </a:bodyPr>
          <a:lstStyle/>
          <a:p>
            <a:r>
              <a:rPr lang="en-US" sz="1400" b="1" spc="-1" dirty="0" err="1">
                <a:solidFill>
                  <a:srgbClr val="000000"/>
                </a:solidFill>
              </a:rPr>
              <a:t>Clawrity</a:t>
            </a:r>
            <a:r>
              <a:rPr lang="en-US" sz="1400" b="1" spc="-1" dirty="0">
                <a:solidFill>
                  <a:srgbClr val="000000"/>
                </a:solidFill>
              </a:rPr>
              <a:t> </a:t>
            </a:r>
            <a:r>
              <a:rPr lang="en-US" sz="1400" spc="-1" dirty="0">
                <a:solidFill>
                  <a:srgbClr val="000000"/>
                </a:solidFill>
              </a:rPr>
              <a:t>— built on </a:t>
            </a:r>
            <a:r>
              <a:rPr lang="en-US" sz="1400" spc="-1" dirty="0" err="1">
                <a:solidFill>
                  <a:srgbClr val="000000"/>
                </a:solidFill>
              </a:rPr>
              <a:t>OpenClaw</a:t>
            </a:r>
            <a:r>
              <a:rPr lang="en-US" sz="1400" spc="-1" dirty="0">
                <a:solidFill>
                  <a:srgbClr val="000000"/>
                </a:solidFill>
              </a:rPr>
              <a:t> — fills this exact gap.</a:t>
            </a:r>
          </a:p>
          <a:p>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97"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8"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99"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Your Solution</a:t>
            </a:r>
            <a:endParaRPr lang="en-US" sz="4300" b="0" strike="noStrike" spc="-1">
              <a:solidFill>
                <a:srgbClr val="000000"/>
              </a:solidFill>
              <a:latin typeface="Arial"/>
            </a:endParaRPr>
          </a:p>
        </p:txBody>
      </p:sp>
      <p:sp>
        <p:nvSpPr>
          <p:cNvPr id="100"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26670" b="0" strike="noStrike" spc="-1">
              <a:solidFill>
                <a:schemeClr val="dk1"/>
              </a:solidFill>
              <a:latin typeface="Calibri"/>
            </a:endParaRPr>
          </a:p>
        </p:txBody>
      </p:sp>
      <p:sp>
        <p:nvSpPr>
          <p:cNvPr id="101" name="TextBox 8"/>
          <p:cNvSpPr/>
          <p:nvPr/>
        </p:nvSpPr>
        <p:spPr>
          <a:xfrm>
            <a:off x="609480" y="1523880"/>
            <a:ext cx="5570280" cy="545388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spcAft>
                <a:spcPts val="201"/>
              </a:spcAft>
            </a:pPr>
            <a:r>
              <a:rPr lang="en-US" sz="1400" b="1" spc="-1" dirty="0">
                <a:solidFill>
                  <a:srgbClr val="000000"/>
                </a:solidFill>
              </a:rPr>
              <a:t>Headline: Meet </a:t>
            </a:r>
            <a:r>
              <a:rPr lang="en-US" sz="1400" b="1" spc="-1" dirty="0" err="1">
                <a:solidFill>
                  <a:srgbClr val="000000"/>
                </a:solidFill>
              </a:rPr>
              <a:t>Clawrity</a:t>
            </a:r>
            <a:r>
              <a:rPr lang="en-US" sz="1400" b="1" spc="-1" dirty="0">
                <a:solidFill>
                  <a:srgbClr val="000000"/>
                </a:solidFill>
              </a:rPr>
              <a:t> — The Autonomous BI Agent</a:t>
            </a:r>
          </a:p>
          <a:p>
            <a:pPr>
              <a:spcAft>
                <a:spcPts val="201"/>
              </a:spcAft>
            </a:pPr>
            <a:endParaRPr lang="en-US" sz="1200" spc="-1" dirty="0">
              <a:solidFill>
                <a:srgbClr val="000000"/>
              </a:solidFill>
            </a:endParaRPr>
          </a:p>
          <a:p>
            <a:pPr>
              <a:spcAft>
                <a:spcPts val="201"/>
              </a:spcAft>
            </a:pPr>
            <a:r>
              <a:rPr lang="en-US" sz="1200" b="1" spc="-1" dirty="0">
                <a:solidFill>
                  <a:srgbClr val="000000"/>
                </a:solidFill>
              </a:rPr>
              <a:t>What it is: </a:t>
            </a:r>
            <a:r>
              <a:rPr lang="en-US" sz="1200" spc="-1" dirty="0">
                <a:solidFill>
                  <a:srgbClr val="000000"/>
                </a:solidFill>
              </a:rPr>
              <a:t>A multi-channel, AI-driven intelligence layer that instantly translates plain-English questions into data-grounded insights directly within Slack or Teams.</a:t>
            </a:r>
          </a:p>
          <a:p>
            <a:pPr>
              <a:spcAft>
                <a:spcPts val="201"/>
              </a:spcAft>
            </a:pPr>
            <a:endParaRPr lang="en-US" sz="1200" spc="-1" dirty="0">
              <a:solidFill>
                <a:srgbClr val="000000"/>
              </a:solidFill>
            </a:endParaRPr>
          </a:p>
          <a:p>
            <a:pPr>
              <a:spcAft>
                <a:spcPts val="201"/>
              </a:spcAft>
            </a:pPr>
            <a:r>
              <a:rPr lang="en-US" sz="1400" b="1" spc="-1" dirty="0">
                <a:solidFill>
                  <a:srgbClr val="000000"/>
                </a:solidFill>
              </a:rPr>
              <a:t>How it solves the problem:</a:t>
            </a:r>
          </a:p>
          <a:p>
            <a:pPr>
              <a:spcAft>
                <a:spcPts val="201"/>
              </a:spcAft>
            </a:pPr>
            <a:endParaRPr lang="en-US" sz="1200" spc="-1" dirty="0">
              <a:solidFill>
                <a:srgbClr val="000000"/>
              </a:solidFill>
            </a:endParaRPr>
          </a:p>
          <a:p>
            <a:pPr>
              <a:spcAft>
                <a:spcPts val="201"/>
              </a:spcAft>
            </a:pPr>
            <a:r>
              <a:rPr lang="en-US" sz="1200" b="1" spc="-1" dirty="0">
                <a:solidFill>
                  <a:srgbClr val="000000"/>
                </a:solidFill>
              </a:rPr>
              <a:t>Talk to Your Data (Zero Friction): </a:t>
            </a:r>
            <a:r>
              <a:rPr lang="en-US" sz="1200" spc="-1" dirty="0">
                <a:solidFill>
                  <a:srgbClr val="000000"/>
                </a:solidFill>
              </a:rPr>
              <a:t>No more chasing analysts or waiting for dashboards. Anyone can ask complex business questions in plain English and receive real-time, actionable answers in seconds.</a:t>
            </a:r>
          </a:p>
          <a:p>
            <a:pPr>
              <a:spcAft>
                <a:spcPts val="201"/>
              </a:spcAft>
            </a:pPr>
            <a:endParaRPr lang="en-US" sz="1200" spc="-1" dirty="0">
              <a:solidFill>
                <a:srgbClr val="000000"/>
              </a:solidFill>
            </a:endParaRPr>
          </a:p>
          <a:p>
            <a:pPr>
              <a:spcAft>
                <a:spcPts val="201"/>
              </a:spcAft>
            </a:pPr>
            <a:r>
              <a:rPr lang="en-US" sz="1200" b="1" spc="-1" dirty="0">
                <a:solidFill>
                  <a:srgbClr val="000000"/>
                </a:solidFill>
              </a:rPr>
              <a:t>Proactive Intelligence (Zero Delay): </a:t>
            </a:r>
            <a:r>
              <a:rPr lang="en-US" sz="1200" spc="-1" dirty="0">
                <a:solidFill>
                  <a:srgbClr val="000000"/>
                </a:solidFill>
              </a:rPr>
              <a:t>Executives don't have to hunt for stale weekly reports. </a:t>
            </a:r>
            <a:r>
              <a:rPr lang="en-US" sz="1200" spc="-1" dirty="0" err="1">
                <a:solidFill>
                  <a:srgbClr val="000000"/>
                </a:solidFill>
              </a:rPr>
              <a:t>Clawrity</a:t>
            </a:r>
            <a:r>
              <a:rPr lang="en-US" sz="1200" spc="-1" dirty="0">
                <a:solidFill>
                  <a:srgbClr val="000000"/>
                </a:solidFill>
              </a:rPr>
              <a:t> pushes automated, highly localized daily digests and performance alerts straight to their chat every morning.</a:t>
            </a:r>
          </a:p>
          <a:p>
            <a:pPr>
              <a:spcAft>
                <a:spcPts val="201"/>
              </a:spcAft>
            </a:pPr>
            <a:endParaRPr lang="en-US" sz="1200" spc="-1" dirty="0">
              <a:solidFill>
                <a:srgbClr val="000000"/>
              </a:solidFill>
            </a:endParaRPr>
          </a:p>
          <a:p>
            <a:pPr>
              <a:spcAft>
                <a:spcPts val="201"/>
              </a:spcAft>
            </a:pPr>
            <a:r>
              <a:rPr lang="en-US" sz="1200" b="1" spc="-1" dirty="0">
                <a:solidFill>
                  <a:srgbClr val="000000"/>
                </a:solidFill>
              </a:rPr>
              <a:t>Fact-Checked Accuracy (Zero Hallucinations): </a:t>
            </a:r>
            <a:r>
              <a:rPr lang="en-US" sz="1200" spc="-1" dirty="0">
                <a:solidFill>
                  <a:srgbClr val="000000"/>
                </a:solidFill>
              </a:rPr>
              <a:t>We eliminate "AI trust issues." Our proprietary adversarial QA loop mathematically audits every single number and claim against your live database before it ever reaches the user.  add this in 'your solution'  remove </a:t>
            </a:r>
            <a:r>
              <a:rPr lang="en-US" sz="1200" spc="-1" dirty="0" err="1">
                <a:solidFill>
                  <a:srgbClr val="000000"/>
                </a:solidFill>
              </a:rPr>
              <a:t>everyhting</a:t>
            </a:r>
            <a:r>
              <a:rPr lang="en-US" sz="1200" spc="-1" dirty="0">
                <a:solidFill>
                  <a:srgbClr val="000000"/>
                </a:solidFill>
              </a:rPr>
              <a:t> before how open claw makes this work</a:t>
            </a:r>
          </a:p>
          <a:p>
            <a:pPr>
              <a:spcAft>
                <a:spcPts val="201"/>
              </a:spcAft>
            </a:pPr>
            <a:endParaRPr lang="en-US" sz="1200" b="0" strike="noStrike" spc="-1" dirty="0">
              <a:solidFill>
                <a:srgbClr val="000000"/>
              </a:solidFill>
            </a:endParaRPr>
          </a:p>
          <a:p>
            <a:pPr defTabSz="914400">
              <a:lnSpc>
                <a:spcPct val="100000"/>
              </a:lnSpc>
              <a:spcAft>
                <a:spcPts val="300"/>
              </a:spcAft>
            </a:pPr>
            <a:r>
              <a:rPr lang="en-US" sz="1400" b="1" strike="noStrike" spc="-1" dirty="0">
                <a:solidFill>
                  <a:srgbClr val="000000"/>
                </a:solidFill>
              </a:rPr>
              <a:t>HOW OPENCLAW MAKES THIS WORK</a:t>
            </a:r>
            <a:endParaRPr lang="en-US" sz="1400" b="0" strike="noStrike" spc="-1" dirty="0">
              <a:solidFill>
                <a:srgbClr val="000000"/>
              </a:solidFill>
            </a:endParaRPr>
          </a:p>
          <a:p>
            <a:pPr defTabSz="914400">
              <a:lnSpc>
                <a:spcPct val="100000"/>
              </a:lnSpc>
              <a:spcAft>
                <a:spcPts val="300"/>
              </a:spcAft>
            </a:pPr>
            <a:r>
              <a:rPr lang="en-US" sz="1200" b="0" strike="noStrike" spc="-1" dirty="0">
                <a:solidFill>
                  <a:srgbClr val="000000"/>
                </a:solidFill>
              </a:rPr>
              <a:t>• SOUL.md — identity, tone, business rules &amp; routing logic.</a:t>
            </a:r>
          </a:p>
          <a:p>
            <a:pPr defTabSz="914400">
              <a:lnSpc>
                <a:spcPct val="100000"/>
              </a:lnSpc>
              <a:spcAft>
                <a:spcPts val="300"/>
              </a:spcAft>
            </a:pPr>
            <a:r>
              <a:rPr lang="en-US" sz="1200" b="0" strike="noStrike" spc="-1" dirty="0">
                <a:solidFill>
                  <a:srgbClr val="000000"/>
                </a:solidFill>
              </a:rPr>
              <a:t>   Routes: business query → /chat, competitor → /scout, chat → direct</a:t>
            </a:r>
          </a:p>
          <a:p>
            <a:pPr defTabSz="914400">
              <a:lnSpc>
                <a:spcPct val="100000"/>
              </a:lnSpc>
              <a:spcAft>
                <a:spcPts val="300"/>
              </a:spcAft>
            </a:pPr>
            <a:r>
              <a:rPr lang="en-US" sz="1200" b="0" strike="noStrike" spc="-1" dirty="0">
                <a:solidFill>
                  <a:srgbClr val="000000"/>
                </a:solidFill>
              </a:rPr>
              <a:t>• HEARTBEAT.md — automated schedules (8 AM digest + retry config)</a:t>
            </a:r>
          </a:p>
          <a:p>
            <a:pPr defTabSz="914400">
              <a:lnSpc>
                <a:spcPct val="100000"/>
              </a:lnSpc>
              <a:spcAft>
                <a:spcPts val="300"/>
              </a:spcAft>
            </a:pPr>
            <a:r>
              <a:rPr lang="en-US" sz="1200" b="0" strike="noStrike" spc="-1" dirty="0">
                <a:solidFill>
                  <a:srgbClr val="000000"/>
                </a:solidFill>
              </a:rPr>
              <a:t>• Protocol Adapter — normalizes Slack/Teams/API → unified message</a:t>
            </a:r>
          </a:p>
          <a:p>
            <a:pPr defTabSz="914400">
              <a:lnSpc>
                <a:spcPct val="100000"/>
              </a:lnSpc>
              <a:spcAft>
                <a:spcPts val="201"/>
              </a:spcAft>
            </a:pPr>
            <a:endParaRPr lang="en-US" sz="1200" b="0" strike="noStrike" spc="-1"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104"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5"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106"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Demo / Product Walkthrough</a:t>
            </a:r>
            <a:endParaRPr lang="en-US" sz="4300" b="0" strike="noStrike" spc="-1">
              <a:solidFill>
                <a:srgbClr val="000000"/>
              </a:solidFill>
              <a:latin typeface="Arial"/>
            </a:endParaRPr>
          </a:p>
        </p:txBody>
      </p:sp>
      <p:pic>
        <p:nvPicPr>
          <p:cNvPr id="3" name="Picture 2">
            <a:extLst>
              <a:ext uri="{FF2B5EF4-FFF2-40B4-BE49-F238E27FC236}">
                <a16:creationId xmlns:a16="http://schemas.microsoft.com/office/drawing/2014/main" id="{07E1AD71-2C08-810B-42BC-C386032B73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1743" y="1571347"/>
            <a:ext cx="3618626" cy="1861331"/>
          </a:xfrm>
          <a:prstGeom prst="rect">
            <a:avLst/>
          </a:prstGeom>
        </p:spPr>
      </p:pic>
      <p:pic>
        <p:nvPicPr>
          <p:cNvPr id="5" name="Picture 4">
            <a:extLst>
              <a:ext uri="{FF2B5EF4-FFF2-40B4-BE49-F238E27FC236}">
                <a16:creationId xmlns:a16="http://schemas.microsoft.com/office/drawing/2014/main" id="{C38CF076-8CE5-930F-2787-A826BBE7E5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67034" y="1598906"/>
            <a:ext cx="3657332" cy="1881240"/>
          </a:xfrm>
          <a:prstGeom prst="rect">
            <a:avLst/>
          </a:prstGeom>
        </p:spPr>
      </p:pic>
      <p:pic>
        <p:nvPicPr>
          <p:cNvPr id="7" name="Picture 6">
            <a:extLst>
              <a:ext uri="{FF2B5EF4-FFF2-40B4-BE49-F238E27FC236}">
                <a16:creationId xmlns:a16="http://schemas.microsoft.com/office/drawing/2014/main" id="{222AB782-4078-5C9D-4A9B-4EF371419E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631" y="1630146"/>
            <a:ext cx="3659867" cy="1891694"/>
          </a:xfrm>
          <a:prstGeom prst="rect">
            <a:avLst/>
          </a:prstGeom>
        </p:spPr>
      </p:pic>
      <p:sp>
        <p:nvSpPr>
          <p:cNvPr id="10" name="TextBox 9">
            <a:extLst>
              <a:ext uri="{FF2B5EF4-FFF2-40B4-BE49-F238E27FC236}">
                <a16:creationId xmlns:a16="http://schemas.microsoft.com/office/drawing/2014/main" id="{5B510D6F-F1D8-76F5-8D3D-19A8D36BD93E}"/>
              </a:ext>
            </a:extLst>
          </p:cNvPr>
          <p:cNvSpPr txBox="1"/>
          <p:nvPr/>
        </p:nvSpPr>
        <p:spPr>
          <a:xfrm>
            <a:off x="91630" y="3521840"/>
            <a:ext cx="3303446" cy="523220"/>
          </a:xfrm>
          <a:prstGeom prst="rect">
            <a:avLst/>
          </a:prstGeom>
          <a:noFill/>
        </p:spPr>
        <p:txBody>
          <a:bodyPr wrap="square" rtlCol="0">
            <a:spAutoFit/>
          </a:bodyPr>
          <a:lstStyle/>
          <a:p>
            <a:r>
              <a:rPr lang="en-US" sz="1400" dirty="0"/>
              <a:t>User asks complex business questions in plain English directly on slack workspace</a:t>
            </a:r>
            <a:endParaRPr lang="en-IN" sz="1400" dirty="0"/>
          </a:p>
        </p:txBody>
      </p:sp>
      <p:sp>
        <p:nvSpPr>
          <p:cNvPr id="12" name="TextBox 11">
            <a:extLst>
              <a:ext uri="{FF2B5EF4-FFF2-40B4-BE49-F238E27FC236}">
                <a16:creationId xmlns:a16="http://schemas.microsoft.com/office/drawing/2014/main" id="{A36E105B-B50D-CD84-A3F2-CB649AD715B3}"/>
              </a:ext>
            </a:extLst>
          </p:cNvPr>
          <p:cNvSpPr txBox="1"/>
          <p:nvPr/>
        </p:nvSpPr>
        <p:spPr>
          <a:xfrm>
            <a:off x="4205360" y="3480146"/>
            <a:ext cx="3303446" cy="523220"/>
          </a:xfrm>
          <a:prstGeom prst="rect">
            <a:avLst/>
          </a:prstGeom>
          <a:noFill/>
        </p:spPr>
        <p:txBody>
          <a:bodyPr wrap="square" rtlCol="0">
            <a:spAutoFit/>
          </a:bodyPr>
          <a:lstStyle/>
          <a:p>
            <a:r>
              <a:rPr lang="en-US" sz="1400" dirty="0"/>
              <a:t>The </a:t>
            </a:r>
            <a:r>
              <a:rPr lang="en-US" sz="1400" dirty="0" err="1"/>
              <a:t>clawrity</a:t>
            </a:r>
            <a:r>
              <a:rPr lang="en-US" sz="1400" dirty="0"/>
              <a:t> backend translates NL to SQL and retrieves semantic RAG context</a:t>
            </a:r>
            <a:endParaRPr lang="en-IN" sz="1400" dirty="0"/>
          </a:p>
        </p:txBody>
      </p:sp>
      <p:sp>
        <p:nvSpPr>
          <p:cNvPr id="13" name="TextBox 12">
            <a:extLst>
              <a:ext uri="{FF2B5EF4-FFF2-40B4-BE49-F238E27FC236}">
                <a16:creationId xmlns:a16="http://schemas.microsoft.com/office/drawing/2014/main" id="{50CEF42F-A3DC-4AAE-4FDB-F43A2719C2DB}"/>
              </a:ext>
            </a:extLst>
          </p:cNvPr>
          <p:cNvSpPr txBox="1"/>
          <p:nvPr/>
        </p:nvSpPr>
        <p:spPr>
          <a:xfrm>
            <a:off x="8481742" y="3429000"/>
            <a:ext cx="3710017" cy="738664"/>
          </a:xfrm>
          <a:prstGeom prst="rect">
            <a:avLst/>
          </a:prstGeom>
          <a:noFill/>
        </p:spPr>
        <p:txBody>
          <a:bodyPr wrap="square" rtlCol="0">
            <a:spAutoFit/>
          </a:bodyPr>
          <a:lstStyle/>
          <a:p>
            <a:r>
              <a:rPr lang="en-US" sz="1400" dirty="0"/>
              <a:t>The open claw agent delivers an instant, data-grounded analysis complete with suggestions based on live data metrics</a:t>
            </a:r>
            <a:endParaRPr lang="en-IN" sz="1400" dirty="0"/>
          </a:p>
        </p:txBody>
      </p:sp>
      <p:sp>
        <p:nvSpPr>
          <p:cNvPr id="16" name="Arrow: Right 15">
            <a:extLst>
              <a:ext uri="{FF2B5EF4-FFF2-40B4-BE49-F238E27FC236}">
                <a16:creationId xmlns:a16="http://schemas.microsoft.com/office/drawing/2014/main" id="{B0618904-27B4-419D-DB48-47F7068B9103}"/>
              </a:ext>
            </a:extLst>
          </p:cNvPr>
          <p:cNvSpPr/>
          <p:nvPr/>
        </p:nvSpPr>
        <p:spPr>
          <a:xfrm>
            <a:off x="3839351" y="2464679"/>
            <a:ext cx="334779" cy="14969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77618FA2-05D5-F27A-E45A-E13914769CBE}"/>
              </a:ext>
            </a:extLst>
          </p:cNvPr>
          <p:cNvSpPr/>
          <p:nvPr/>
        </p:nvSpPr>
        <p:spPr>
          <a:xfrm>
            <a:off x="8050523" y="2464679"/>
            <a:ext cx="334779" cy="14969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1E8CFBCF-18DF-EA2C-D855-7C9D73777209}"/>
              </a:ext>
            </a:extLst>
          </p:cNvPr>
          <p:cNvSpPr txBox="1"/>
          <p:nvPr/>
        </p:nvSpPr>
        <p:spPr>
          <a:xfrm>
            <a:off x="91631" y="4688834"/>
            <a:ext cx="11882655" cy="623248"/>
          </a:xfrm>
          <a:prstGeom prst="rect">
            <a:avLst/>
          </a:prstGeom>
          <a:noFill/>
        </p:spPr>
        <p:txBody>
          <a:bodyPr wrap="square" rtlCol="0">
            <a:spAutoFit/>
          </a:bodyPr>
          <a:lstStyle/>
          <a:p>
            <a:pPr>
              <a:spcAft>
                <a:spcPts val="300"/>
              </a:spcAft>
            </a:pPr>
            <a:r>
              <a:rPr lang="en-US" sz="1400" b="1" spc="-1" dirty="0">
                <a:solidFill>
                  <a:srgbClr val="000000"/>
                </a:solidFill>
              </a:rPr>
              <a:t>SYSTEM FLOW</a:t>
            </a:r>
            <a:endParaRPr lang="en-US" sz="1400" spc="-1" dirty="0">
              <a:solidFill>
                <a:srgbClr val="000000"/>
              </a:solidFill>
              <a:latin typeface="Arial"/>
            </a:endParaRPr>
          </a:p>
          <a:p>
            <a:endParaRPr lang="en-IN" dirty="0"/>
          </a:p>
        </p:txBody>
      </p:sp>
      <p:pic>
        <p:nvPicPr>
          <p:cNvPr id="21" name="Picture 20">
            <a:extLst>
              <a:ext uri="{FF2B5EF4-FFF2-40B4-BE49-F238E27FC236}">
                <a16:creationId xmlns:a16="http://schemas.microsoft.com/office/drawing/2014/main" id="{432BA0EA-DB59-4307-FC54-5B8C0A14A83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59960" y="4367894"/>
            <a:ext cx="4203697" cy="23943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111"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2"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113"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Tech &amp; Architecture</a:t>
            </a:r>
            <a:endParaRPr lang="en-US" sz="4300" b="0" strike="noStrike" spc="-1">
              <a:solidFill>
                <a:srgbClr val="000000"/>
              </a:solidFill>
              <a:latin typeface="Arial"/>
            </a:endParaRPr>
          </a:p>
        </p:txBody>
      </p:sp>
      <p:sp>
        <p:nvSpPr>
          <p:cNvPr id="4" name="TextBox 3">
            <a:extLst>
              <a:ext uri="{FF2B5EF4-FFF2-40B4-BE49-F238E27FC236}">
                <a16:creationId xmlns:a16="http://schemas.microsoft.com/office/drawing/2014/main" id="{CAB685F0-D374-A7B0-9DC4-303381D03EEF}"/>
              </a:ext>
            </a:extLst>
          </p:cNvPr>
          <p:cNvSpPr txBox="1"/>
          <p:nvPr/>
        </p:nvSpPr>
        <p:spPr>
          <a:xfrm>
            <a:off x="259385" y="5062731"/>
            <a:ext cx="4601149" cy="1423467"/>
          </a:xfrm>
          <a:prstGeom prst="rect">
            <a:avLst/>
          </a:prstGeom>
          <a:noFill/>
        </p:spPr>
        <p:txBody>
          <a:bodyPr wrap="square" rtlCol="0">
            <a:spAutoFit/>
          </a:bodyPr>
          <a:lstStyle/>
          <a:p>
            <a:pPr>
              <a:spcAft>
                <a:spcPts val="300"/>
              </a:spcAft>
            </a:pPr>
            <a:r>
              <a:rPr lang="en-US" sz="1400" b="1" spc="-1" dirty="0">
                <a:solidFill>
                  <a:srgbClr val="000000"/>
                </a:solidFill>
              </a:rPr>
              <a:t>OPENCLAW PATTERN</a:t>
            </a:r>
            <a:endParaRPr lang="en-US" sz="1400" spc="-1" dirty="0">
              <a:solidFill>
                <a:srgbClr val="000000"/>
              </a:solidFill>
            </a:endParaRPr>
          </a:p>
          <a:p>
            <a:pPr>
              <a:spcAft>
                <a:spcPts val="300"/>
              </a:spcAft>
            </a:pPr>
            <a:r>
              <a:rPr lang="en-US" sz="1200" spc="-1" dirty="0">
                <a:solidFill>
                  <a:srgbClr val="000000"/>
                </a:solidFill>
              </a:rPr>
              <a:t>• SOUL.md = personality + routing (what to route where)</a:t>
            </a:r>
            <a:endParaRPr lang="en-US" sz="1200" spc="-1" dirty="0">
              <a:solidFill>
                <a:srgbClr val="000000"/>
              </a:solidFill>
              <a:latin typeface="Arial"/>
            </a:endParaRPr>
          </a:p>
          <a:p>
            <a:pPr>
              <a:spcAft>
                <a:spcPts val="300"/>
              </a:spcAft>
            </a:pPr>
            <a:r>
              <a:rPr lang="en-US" sz="1200" spc="-1" dirty="0">
                <a:solidFill>
                  <a:srgbClr val="000000"/>
                </a:solidFill>
              </a:rPr>
              <a:t>• HEARTBEAT.md = automation (when to trigger + retry config)</a:t>
            </a:r>
            <a:endParaRPr lang="en-US" sz="1200" spc="-1" dirty="0">
              <a:solidFill>
                <a:srgbClr val="000000"/>
              </a:solidFill>
              <a:latin typeface="Arial"/>
            </a:endParaRPr>
          </a:p>
          <a:p>
            <a:pPr>
              <a:spcAft>
                <a:spcPts val="300"/>
              </a:spcAft>
            </a:pPr>
            <a:r>
              <a:rPr lang="en-US" sz="1200" spc="-1" dirty="0">
                <a:solidFill>
                  <a:srgbClr val="000000"/>
                </a:solidFill>
              </a:rPr>
              <a:t>• Protocol Adapter = channel normalization (Slack/Teams/API)</a:t>
            </a:r>
            <a:endParaRPr lang="en-US" sz="1200" spc="-1" dirty="0">
              <a:solidFill>
                <a:srgbClr val="000000"/>
              </a:solidFill>
              <a:latin typeface="Arial"/>
            </a:endParaRPr>
          </a:p>
          <a:p>
            <a:pPr>
              <a:spcAft>
                <a:spcPts val="300"/>
              </a:spcAft>
            </a:pPr>
            <a:r>
              <a:rPr lang="en-US" sz="1200" spc="-1" dirty="0">
                <a:solidFill>
                  <a:srgbClr val="000000"/>
                </a:solidFill>
              </a:rPr>
              <a:t>• Per-client YAML = data source, thresholds, scout config</a:t>
            </a:r>
          </a:p>
          <a:p>
            <a:endParaRPr lang="en-IN" sz="1200" dirty="0"/>
          </a:p>
        </p:txBody>
      </p:sp>
      <p:sp>
        <p:nvSpPr>
          <p:cNvPr id="6" name="TextBox 5">
            <a:extLst>
              <a:ext uri="{FF2B5EF4-FFF2-40B4-BE49-F238E27FC236}">
                <a16:creationId xmlns:a16="http://schemas.microsoft.com/office/drawing/2014/main" id="{C03B9AE7-FD21-4A9E-B131-11F3B2DBC7F9}"/>
              </a:ext>
            </a:extLst>
          </p:cNvPr>
          <p:cNvSpPr txBox="1"/>
          <p:nvPr/>
        </p:nvSpPr>
        <p:spPr>
          <a:xfrm>
            <a:off x="290166" y="1747937"/>
            <a:ext cx="4949493" cy="3654847"/>
          </a:xfrm>
          <a:prstGeom prst="rect">
            <a:avLst/>
          </a:prstGeom>
          <a:noFill/>
        </p:spPr>
        <p:txBody>
          <a:bodyPr wrap="square" rtlCol="0">
            <a:spAutoFit/>
          </a:bodyPr>
          <a:lstStyle/>
          <a:p>
            <a:pPr>
              <a:spcAft>
                <a:spcPts val="300"/>
              </a:spcAft>
            </a:pPr>
            <a:endParaRPr lang="en-US" sz="1200" b="1" spc="-1" dirty="0">
              <a:solidFill>
                <a:srgbClr val="000000"/>
              </a:solidFill>
            </a:endParaRPr>
          </a:p>
          <a:p>
            <a:pPr>
              <a:spcAft>
                <a:spcPts val="300"/>
              </a:spcAft>
            </a:pPr>
            <a:endParaRPr lang="en-US" sz="1200" b="1" spc="-1" dirty="0">
              <a:solidFill>
                <a:srgbClr val="000000"/>
              </a:solidFill>
            </a:endParaRPr>
          </a:p>
          <a:p>
            <a:pPr>
              <a:spcAft>
                <a:spcPts val="300"/>
              </a:spcAft>
            </a:pPr>
            <a:r>
              <a:rPr lang="en-US" sz="1400" b="1" spc="-1" dirty="0">
                <a:solidFill>
                  <a:srgbClr val="000000"/>
                </a:solidFill>
              </a:rPr>
              <a:t>TECH STACK</a:t>
            </a:r>
            <a:endParaRPr lang="en-US" sz="1400" spc="-1" dirty="0">
              <a:solidFill>
                <a:srgbClr val="000000"/>
              </a:solidFill>
              <a:latin typeface="Arial"/>
            </a:endParaRPr>
          </a:p>
          <a:p>
            <a:pPr>
              <a:spcAft>
                <a:spcPts val="300"/>
              </a:spcAft>
            </a:pPr>
            <a:r>
              <a:rPr lang="en-US" sz="1200" spc="-1" dirty="0">
                <a:solidFill>
                  <a:srgbClr val="000000"/>
                </a:solidFill>
              </a:rPr>
              <a:t>Slack Gateway:    </a:t>
            </a:r>
            <a:r>
              <a:rPr lang="en-US" sz="1200" spc="-1" dirty="0" err="1">
                <a:solidFill>
                  <a:srgbClr val="000000"/>
                </a:solidFill>
              </a:rPr>
              <a:t>OpenClaw</a:t>
            </a:r>
            <a:r>
              <a:rPr lang="en-US" sz="1200" spc="-1" dirty="0">
                <a:solidFill>
                  <a:srgbClr val="000000"/>
                </a:solidFill>
              </a:rPr>
              <a:t> (Mistral Large, routing via SOUL.md)</a:t>
            </a:r>
          </a:p>
          <a:p>
            <a:pPr>
              <a:spcAft>
                <a:spcPts val="300"/>
              </a:spcAft>
            </a:pPr>
            <a:r>
              <a:rPr lang="en-US" sz="1200" spc="-1" dirty="0">
                <a:solidFill>
                  <a:srgbClr val="000000"/>
                </a:solidFill>
              </a:rPr>
              <a:t>LLM Backend:      Groq — Llama 3.3 70B Versatile</a:t>
            </a:r>
          </a:p>
          <a:p>
            <a:pPr>
              <a:spcAft>
                <a:spcPts val="300"/>
              </a:spcAft>
            </a:pPr>
            <a:r>
              <a:rPr lang="en-US" sz="1200" spc="-1" dirty="0">
                <a:solidFill>
                  <a:srgbClr val="000000"/>
                </a:solidFill>
              </a:rPr>
              <a:t>API Server:       </a:t>
            </a:r>
            <a:r>
              <a:rPr lang="en-US" sz="1200" spc="-1" dirty="0" err="1">
                <a:solidFill>
                  <a:srgbClr val="000000"/>
                </a:solidFill>
              </a:rPr>
              <a:t>FastAPI</a:t>
            </a:r>
            <a:r>
              <a:rPr lang="en-US" sz="1200" spc="-1" dirty="0">
                <a:solidFill>
                  <a:srgbClr val="000000"/>
                </a:solidFill>
              </a:rPr>
              <a:t> + </a:t>
            </a:r>
            <a:r>
              <a:rPr lang="en-US" sz="1200" spc="-1" dirty="0" err="1">
                <a:solidFill>
                  <a:srgbClr val="000000"/>
                </a:solidFill>
              </a:rPr>
              <a:t>Uvicorn</a:t>
            </a:r>
            <a:endParaRPr lang="en-US" sz="1200" spc="-1" dirty="0">
              <a:solidFill>
                <a:srgbClr val="000000"/>
              </a:solidFill>
            </a:endParaRPr>
          </a:p>
          <a:p>
            <a:pPr>
              <a:spcAft>
                <a:spcPts val="300"/>
              </a:spcAft>
            </a:pPr>
            <a:r>
              <a:rPr lang="en-US" sz="1200" spc="-1" dirty="0">
                <a:solidFill>
                  <a:srgbClr val="000000"/>
                </a:solidFill>
              </a:rPr>
              <a:t>Database:         PostgreSQL + </a:t>
            </a:r>
            <a:r>
              <a:rPr lang="en-US" sz="1200" spc="-1" dirty="0" err="1">
                <a:solidFill>
                  <a:srgbClr val="000000"/>
                </a:solidFill>
              </a:rPr>
              <a:t>pgvector</a:t>
            </a:r>
            <a:r>
              <a:rPr lang="en-US" sz="1200" spc="-1" dirty="0">
                <a:solidFill>
                  <a:srgbClr val="000000"/>
                </a:solidFill>
              </a:rPr>
              <a:t> (data + vectors in 1 DB)</a:t>
            </a:r>
          </a:p>
          <a:p>
            <a:pPr>
              <a:spcAft>
                <a:spcPts val="300"/>
              </a:spcAft>
            </a:pPr>
            <a:r>
              <a:rPr lang="en-US" sz="1200" spc="-1" dirty="0">
                <a:solidFill>
                  <a:srgbClr val="000000"/>
                </a:solidFill>
              </a:rPr>
              <a:t>Embeddings:       all-MiniLM-L6-v2 (CPU, 384 dims)</a:t>
            </a:r>
          </a:p>
          <a:p>
            <a:pPr>
              <a:spcAft>
                <a:spcPts val="300"/>
              </a:spcAft>
            </a:pPr>
            <a:r>
              <a:rPr lang="en-US" sz="1200" spc="-1" dirty="0">
                <a:solidFill>
                  <a:srgbClr val="000000"/>
                </a:solidFill>
              </a:rPr>
              <a:t>Web Search:       </a:t>
            </a:r>
            <a:r>
              <a:rPr lang="en-US" sz="1200" spc="-1" dirty="0" err="1">
                <a:solidFill>
                  <a:srgbClr val="000000"/>
                </a:solidFill>
              </a:rPr>
              <a:t>Tavily</a:t>
            </a:r>
            <a:r>
              <a:rPr lang="en-US" sz="1200" spc="-1" dirty="0">
                <a:solidFill>
                  <a:srgbClr val="000000"/>
                </a:solidFill>
              </a:rPr>
              <a:t> (primary) + DuckDuckGo (fallback)</a:t>
            </a:r>
          </a:p>
          <a:p>
            <a:pPr>
              <a:spcAft>
                <a:spcPts val="300"/>
              </a:spcAft>
            </a:pPr>
            <a:r>
              <a:rPr lang="en-US" sz="1200" spc="-1" dirty="0">
                <a:solidFill>
                  <a:srgbClr val="000000"/>
                </a:solidFill>
              </a:rPr>
              <a:t>Forecasting:      Facebook Prophet (6-month horizon)</a:t>
            </a:r>
          </a:p>
          <a:p>
            <a:pPr>
              <a:spcAft>
                <a:spcPts val="300"/>
              </a:spcAft>
            </a:pPr>
            <a:r>
              <a:rPr lang="en-US" sz="1200" spc="-1" dirty="0">
                <a:solidFill>
                  <a:srgbClr val="000000"/>
                </a:solidFill>
              </a:rPr>
              <a:t>Scheduler:        </a:t>
            </a:r>
            <a:r>
              <a:rPr lang="en-US" sz="1200" spc="-1" dirty="0" err="1">
                <a:solidFill>
                  <a:srgbClr val="000000"/>
                </a:solidFill>
              </a:rPr>
              <a:t>APScheduler</a:t>
            </a:r>
            <a:r>
              <a:rPr lang="en-US" sz="1200" spc="-1" dirty="0">
                <a:solidFill>
                  <a:srgbClr val="000000"/>
                </a:solidFill>
              </a:rPr>
              <a:t> (</a:t>
            </a:r>
            <a:r>
              <a:rPr lang="en-US" sz="1200" spc="-1" dirty="0" err="1">
                <a:solidFill>
                  <a:srgbClr val="000000"/>
                </a:solidFill>
              </a:rPr>
              <a:t>cron</a:t>
            </a:r>
            <a:r>
              <a:rPr lang="en-US" sz="1200" spc="-1" dirty="0">
                <a:solidFill>
                  <a:srgbClr val="000000"/>
                </a:solidFill>
              </a:rPr>
              <a:t> from HEARTBEAT.md)</a:t>
            </a:r>
          </a:p>
          <a:p>
            <a:pPr>
              <a:spcAft>
                <a:spcPts val="300"/>
              </a:spcAft>
            </a:pPr>
            <a:r>
              <a:rPr lang="en-US" sz="1200" spc="-1" dirty="0">
                <a:solidFill>
                  <a:srgbClr val="000000"/>
                </a:solidFill>
              </a:rPr>
              <a:t>Deploy:           Docker Compose (2 services)</a:t>
            </a:r>
          </a:p>
          <a:p>
            <a:pPr>
              <a:spcAft>
                <a:spcPts val="300"/>
              </a:spcAft>
            </a:pPr>
            <a:endParaRPr lang="en-US" sz="1200" b="1" spc="-1" dirty="0">
              <a:solidFill>
                <a:srgbClr val="000000"/>
              </a:solidFill>
            </a:endParaRPr>
          </a:p>
          <a:p>
            <a:pPr>
              <a:spcAft>
                <a:spcPts val="300"/>
              </a:spcAft>
            </a:pPr>
            <a:endParaRPr lang="en-US" sz="1200" b="1" spc="-1" dirty="0">
              <a:solidFill>
                <a:srgbClr val="000000"/>
              </a:solidFill>
            </a:endParaRPr>
          </a:p>
          <a:p>
            <a:pPr>
              <a:spcAft>
                <a:spcPts val="300"/>
              </a:spcAft>
            </a:pPr>
            <a:endParaRPr lang="en-US" sz="1200" spc="-1" dirty="0">
              <a:solidFill>
                <a:srgbClr val="000000"/>
              </a:solidFill>
              <a:cs typeface="Arial" panose="020B0604020202020204" pitchFamily="34" charset="0"/>
            </a:endParaRPr>
          </a:p>
          <a:p>
            <a:endParaRPr lang="en-IN" sz="1200" dirty="0"/>
          </a:p>
        </p:txBody>
      </p:sp>
      <p:pic>
        <p:nvPicPr>
          <p:cNvPr id="8" name="Picture 7">
            <a:extLst>
              <a:ext uri="{FF2B5EF4-FFF2-40B4-BE49-F238E27FC236}">
                <a16:creationId xmlns:a16="http://schemas.microsoft.com/office/drawing/2014/main" id="{ADB79299-00AB-10A6-4585-DBC009B24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9659" y="1790097"/>
            <a:ext cx="6595835" cy="43972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118"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9"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120"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Impact &amp; Use Cases</a:t>
            </a:r>
            <a:endParaRPr lang="en-US" sz="4300" b="0" strike="noStrike" spc="-1">
              <a:solidFill>
                <a:srgbClr val="000000"/>
              </a:solidFill>
              <a:latin typeface="Arial"/>
            </a:endParaRPr>
          </a:p>
        </p:txBody>
      </p:sp>
      <p:sp>
        <p:nvSpPr>
          <p:cNvPr id="122" name="TextBox 8"/>
          <p:cNvSpPr/>
          <p:nvPr/>
        </p:nvSpPr>
        <p:spPr>
          <a:xfrm>
            <a:off x="261498" y="1523880"/>
            <a:ext cx="12191760" cy="467675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IN" sz="1400" b="1" dirty="0"/>
              <a:t>USE CASE 1 — Regional Manager</a:t>
            </a:r>
          </a:p>
          <a:p>
            <a:r>
              <a:rPr lang="en-IN" sz="1200" dirty="0"/>
              <a:t>"Bottom 3 branches by revenue this month?"</a:t>
            </a:r>
          </a:p>
          <a:p>
            <a:r>
              <a:rPr lang="en-IN" sz="1200" dirty="0"/>
              <a:t>Before: Tableau → email BI team → wait 2 days → parse CSV</a:t>
            </a:r>
          </a:p>
          <a:p>
            <a:r>
              <a:rPr lang="en-IN" sz="1200" dirty="0"/>
              <a:t>With </a:t>
            </a:r>
            <a:r>
              <a:rPr lang="en-IN" sz="1200" dirty="0" err="1"/>
              <a:t>Clawrity</a:t>
            </a:r>
            <a:r>
              <a:rPr lang="en-IN" sz="1200" dirty="0"/>
              <a:t>: 8 seconds. Table + recommendations. 3 hrs/week saved.</a:t>
            </a:r>
          </a:p>
          <a:p>
            <a:r>
              <a:rPr lang="en-IN" sz="1200" dirty="0"/>
              <a:t> </a:t>
            </a:r>
          </a:p>
          <a:p>
            <a:r>
              <a:rPr lang="en-IN" sz="1400" b="1" dirty="0"/>
              <a:t>USE CASE 2 — Marketing Lead</a:t>
            </a:r>
          </a:p>
          <a:p>
            <a:r>
              <a:rPr lang="en-IN" sz="1200" dirty="0"/>
              <a:t>"Channel ROI breakdown for last 30 days?"</a:t>
            </a:r>
          </a:p>
          <a:p>
            <a:r>
              <a:rPr lang="en-IN" sz="1200" dirty="0"/>
              <a:t>Before: Wait for monthly report. $15K wasted on bad channel.</a:t>
            </a:r>
          </a:p>
          <a:p>
            <a:r>
              <a:rPr lang="en-IN" sz="1200" dirty="0"/>
              <a:t>With </a:t>
            </a:r>
            <a:r>
              <a:rPr lang="en-IN" sz="1200" dirty="0" err="1"/>
              <a:t>Clawrity</a:t>
            </a:r>
            <a:r>
              <a:rPr lang="en-IN" sz="1200" dirty="0"/>
              <a:t>: "Shift budget from Instagram (0.87) to Email (2.29)"</a:t>
            </a:r>
          </a:p>
          <a:p>
            <a:r>
              <a:rPr lang="en-IN" sz="1200" dirty="0"/>
              <a:t> </a:t>
            </a:r>
          </a:p>
          <a:p>
            <a:r>
              <a:rPr lang="en-IN" sz="1400" b="1" dirty="0"/>
              <a:t>USE CASE 3 — Executive (Zero-Effort Morning Brief)</a:t>
            </a:r>
          </a:p>
          <a:p>
            <a:r>
              <a:rPr lang="en-IN" sz="1200" dirty="0"/>
              <a:t>Automated 8 AM digest via HEARTBEAT.md. Zero human effort.</a:t>
            </a:r>
          </a:p>
          <a:p>
            <a:r>
              <a:rPr lang="en-IN" sz="1200" dirty="0"/>
              <a:t>1.5 hrs analyst time freed daily. Executive reads in 2 min.</a:t>
            </a:r>
          </a:p>
          <a:p>
            <a:r>
              <a:rPr lang="en-IN" sz="1200" dirty="0"/>
              <a:t> </a:t>
            </a:r>
          </a:p>
          <a:p>
            <a:r>
              <a:rPr lang="en-IN" sz="1400" b="1" dirty="0"/>
              <a:t>USE CASE 4 — Competitor Intel</a:t>
            </a:r>
          </a:p>
          <a:p>
            <a:r>
              <a:rPr lang="en-IN" sz="1200" dirty="0"/>
              <a:t>"@</a:t>
            </a:r>
            <a:r>
              <a:rPr lang="en-IN" sz="1200" dirty="0" err="1"/>
              <a:t>clawrity</a:t>
            </a:r>
            <a:r>
              <a:rPr lang="en-IN" sz="1200" dirty="0"/>
              <a:t> what is IKEA doing?" → Scout Agent via </a:t>
            </a:r>
            <a:r>
              <a:rPr lang="en-IN" sz="1200" dirty="0" err="1"/>
              <a:t>Tavily</a:t>
            </a:r>
            <a:endParaRPr lang="en-IN" sz="1200" dirty="0"/>
          </a:p>
          <a:p>
            <a:r>
              <a:rPr lang="en-IN" sz="1200" dirty="0"/>
              <a:t>Half-day of research done in 10 seconds.</a:t>
            </a:r>
          </a:p>
          <a:p>
            <a:r>
              <a:rPr lang="en-IN" sz="1200" dirty="0"/>
              <a:t> </a:t>
            </a:r>
          </a:p>
          <a:p>
            <a:r>
              <a:rPr lang="en-IN" sz="1400" b="1" dirty="0"/>
              <a:t>SCALE POTENTIAL</a:t>
            </a:r>
          </a:p>
          <a:p>
            <a:r>
              <a:rPr lang="en-IN" sz="1200" dirty="0"/>
              <a:t>• Multi-tenant: 1 instance, ∞ clients (1 YAML each)</a:t>
            </a:r>
          </a:p>
          <a:p>
            <a:r>
              <a:rPr lang="en-IN" sz="1200" dirty="0"/>
              <a:t>• Multi-channel: Slack live, Teams ready, API ready</a:t>
            </a:r>
          </a:p>
          <a:p>
            <a:r>
              <a:rPr lang="en-IN" sz="1200" dirty="0"/>
              <a:t>• LLM-agnostic: 5 providers — swap with 1 env var</a:t>
            </a:r>
          </a:p>
          <a:p>
            <a:r>
              <a:rPr lang="en-IN" sz="1200" dirty="0"/>
              <a:t>• Any industry: retail, fintech, healthcare — if PostgreSQL, it works</a:t>
            </a:r>
          </a:p>
          <a:p>
            <a:pPr defTabSz="914400">
              <a:lnSpc>
                <a:spcPct val="100000"/>
              </a:lnSpc>
              <a:spcAft>
                <a:spcPts val="300"/>
              </a:spcAft>
            </a:pPr>
            <a:endParaRPr lang="en-US" sz="12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125"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6"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127"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Differentiation</a:t>
            </a:r>
            <a:endParaRPr lang="en-US" sz="4300" b="0" strike="noStrike" spc="-1">
              <a:solidFill>
                <a:srgbClr val="000000"/>
              </a:solidFill>
              <a:latin typeface="Arial"/>
            </a:endParaRPr>
          </a:p>
        </p:txBody>
      </p:sp>
      <p:sp>
        <p:nvSpPr>
          <p:cNvPr id="128"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26670" b="0" strike="noStrike" spc="-1">
              <a:solidFill>
                <a:schemeClr val="dk1"/>
              </a:solidFill>
              <a:latin typeface="Calibri"/>
            </a:endParaRPr>
          </a:p>
        </p:txBody>
      </p:sp>
      <p:sp>
        <p:nvSpPr>
          <p:cNvPr id="129" name="TextBox 8"/>
          <p:cNvSpPr/>
          <p:nvPr/>
        </p:nvSpPr>
        <p:spPr>
          <a:xfrm>
            <a:off x="609480" y="1683000"/>
            <a:ext cx="5701320" cy="483576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spcAft>
                <a:spcPts val="201"/>
              </a:spcAft>
            </a:pPr>
            <a:endParaRPr lang="en-US" sz="1200" spc="-1" dirty="0">
              <a:solidFill>
                <a:srgbClr val="000000"/>
              </a:solidFill>
            </a:endParaRPr>
          </a:p>
          <a:p>
            <a:pPr>
              <a:spcAft>
                <a:spcPts val="201"/>
              </a:spcAft>
            </a:pPr>
            <a:r>
              <a:rPr lang="en-US" sz="1400" b="1" spc="-1" dirty="0">
                <a:solidFill>
                  <a:srgbClr val="000000"/>
                </a:solidFill>
              </a:rPr>
              <a:t>MOAT 1: The Trust Monopoly (Zero-Hallucination Engine)</a:t>
            </a:r>
          </a:p>
          <a:p>
            <a:pPr>
              <a:spcAft>
                <a:spcPts val="201"/>
              </a:spcAft>
            </a:pPr>
            <a:r>
              <a:rPr lang="en-US" sz="1200" b="1" spc="-1" dirty="0">
                <a:solidFill>
                  <a:srgbClr val="000000"/>
                </a:solidFill>
              </a:rPr>
              <a:t>The Advantage: </a:t>
            </a:r>
            <a:r>
              <a:rPr lang="en-US" sz="1200" spc="-1" dirty="0">
                <a:solidFill>
                  <a:srgbClr val="000000"/>
                </a:solidFill>
              </a:rPr>
              <a:t>Competitors lose enterprise clients the moment an AI hallucinates a financial metric. We guarantee absolute data integrity.</a:t>
            </a:r>
          </a:p>
          <a:p>
            <a:pPr>
              <a:spcAft>
                <a:spcPts val="201"/>
              </a:spcAft>
            </a:pPr>
            <a:endParaRPr lang="en-US" sz="1200" spc="-1" dirty="0">
              <a:solidFill>
                <a:srgbClr val="000000"/>
              </a:solidFill>
            </a:endParaRPr>
          </a:p>
          <a:p>
            <a:pPr>
              <a:spcAft>
                <a:spcPts val="201"/>
              </a:spcAft>
            </a:pPr>
            <a:r>
              <a:rPr lang="en-US" sz="1200" b="1" spc="-1" dirty="0">
                <a:solidFill>
                  <a:srgbClr val="000000"/>
                </a:solidFill>
              </a:rPr>
              <a:t>The Barrier: </a:t>
            </a:r>
            <a:r>
              <a:rPr lang="en-US" sz="1200" spc="-1" dirty="0">
                <a:solidFill>
                  <a:srgbClr val="000000"/>
                </a:solidFill>
              </a:rPr>
              <a:t>Competitors would have to rebuild their entire architecture to match our proprietary "Gen vs. QA" mathematical audit loop. </a:t>
            </a:r>
          </a:p>
          <a:p>
            <a:pPr>
              <a:spcAft>
                <a:spcPts val="201"/>
              </a:spcAft>
            </a:pPr>
            <a:endParaRPr lang="en-US" sz="1200" spc="-1" dirty="0">
              <a:solidFill>
                <a:srgbClr val="000000"/>
              </a:solidFill>
            </a:endParaRPr>
          </a:p>
          <a:p>
            <a:pPr>
              <a:spcAft>
                <a:spcPts val="201"/>
              </a:spcAft>
            </a:pPr>
            <a:r>
              <a:rPr lang="en-US" sz="1200" b="1" spc="-1" dirty="0">
                <a:solidFill>
                  <a:srgbClr val="000000"/>
                </a:solidFill>
              </a:rPr>
              <a:t>The Profitability:</a:t>
            </a:r>
            <a:r>
              <a:rPr lang="en-US" sz="1200" spc="-1" dirty="0">
                <a:solidFill>
                  <a:srgbClr val="000000"/>
                </a:solidFill>
              </a:rPr>
              <a:t>100% data trust equals near-100% client retention, permanently locking out competitors suffering from "AI trust issues."</a:t>
            </a:r>
          </a:p>
          <a:p>
            <a:pPr>
              <a:spcAft>
                <a:spcPts val="201"/>
              </a:spcAft>
            </a:pPr>
            <a:endParaRPr lang="en-US" sz="1200" spc="-1" dirty="0">
              <a:solidFill>
                <a:srgbClr val="000000"/>
              </a:solidFill>
            </a:endParaRPr>
          </a:p>
          <a:p>
            <a:pPr>
              <a:spcAft>
                <a:spcPts val="201"/>
              </a:spcAft>
            </a:pPr>
            <a:r>
              <a:rPr lang="en-US" sz="1400" b="1" spc="-1" dirty="0">
                <a:solidFill>
                  <a:srgbClr val="000000"/>
                </a:solidFill>
              </a:rPr>
              <a:t>MOAT 2: Infinite Scalability (Zero-Code Architecture)</a:t>
            </a:r>
          </a:p>
          <a:p>
            <a:pPr>
              <a:spcAft>
                <a:spcPts val="201"/>
              </a:spcAft>
            </a:pPr>
            <a:r>
              <a:rPr lang="en-US" sz="1200" b="1" spc="-1" dirty="0">
                <a:solidFill>
                  <a:srgbClr val="000000"/>
                </a:solidFill>
              </a:rPr>
              <a:t>The Advantage: </a:t>
            </a:r>
            <a:r>
              <a:rPr lang="en-US" sz="1200" spc="-1" dirty="0">
                <a:solidFill>
                  <a:srgbClr val="000000"/>
                </a:solidFill>
              </a:rPr>
              <a:t>Traditional B2B AI demands expensive engineering teams and months of setup per client, crushing profit margins. </a:t>
            </a:r>
          </a:p>
          <a:p>
            <a:pPr>
              <a:spcAft>
                <a:spcPts val="201"/>
              </a:spcAft>
            </a:pPr>
            <a:endParaRPr lang="en-US" sz="1200" spc="-1" dirty="0">
              <a:solidFill>
                <a:srgbClr val="000000"/>
              </a:solidFill>
            </a:endParaRPr>
          </a:p>
          <a:p>
            <a:pPr>
              <a:spcAft>
                <a:spcPts val="201"/>
              </a:spcAft>
            </a:pPr>
            <a:r>
              <a:rPr lang="en-US" sz="1200" b="1" spc="-1" dirty="0">
                <a:solidFill>
                  <a:srgbClr val="000000"/>
                </a:solidFill>
              </a:rPr>
              <a:t>The Barrier: </a:t>
            </a:r>
            <a:r>
              <a:rPr lang="en-US" sz="1200" spc="-1" dirty="0">
                <a:solidFill>
                  <a:srgbClr val="000000"/>
                </a:solidFill>
              </a:rPr>
              <a:t>Our </a:t>
            </a:r>
            <a:r>
              <a:rPr lang="en-US" sz="1200" spc="-1" dirty="0" err="1">
                <a:solidFill>
                  <a:srgbClr val="000000"/>
                </a:solidFill>
              </a:rPr>
              <a:t>OpenClaw</a:t>
            </a:r>
            <a:r>
              <a:rPr lang="en-US" sz="1200" spc="-1" dirty="0">
                <a:solidFill>
                  <a:srgbClr val="000000"/>
                </a:solidFill>
              </a:rPr>
              <a:t> pattern allows non-technical teams to deploy custom enterprise agents instantly using just three simple text files.</a:t>
            </a:r>
          </a:p>
          <a:p>
            <a:pPr>
              <a:spcAft>
                <a:spcPts val="201"/>
              </a:spcAft>
            </a:pPr>
            <a:endParaRPr lang="en-US" sz="1200" spc="-1" dirty="0">
              <a:solidFill>
                <a:srgbClr val="000000"/>
              </a:solidFill>
            </a:endParaRPr>
          </a:p>
          <a:p>
            <a:pPr>
              <a:spcAft>
                <a:spcPts val="201"/>
              </a:spcAft>
            </a:pPr>
            <a:r>
              <a:rPr lang="en-US" sz="1200" b="1" spc="-1" dirty="0">
                <a:solidFill>
                  <a:srgbClr val="000000"/>
                </a:solidFill>
              </a:rPr>
              <a:t>The Profitability: </a:t>
            </a:r>
            <a:r>
              <a:rPr lang="en-US" sz="1200" spc="-1" dirty="0">
                <a:solidFill>
                  <a:srgbClr val="000000"/>
                </a:solidFill>
              </a:rPr>
              <a:t>With integration costs near $0, we onboard clients 100x faster than competitors while maintaining massive, pure-SaaS profit margins.</a:t>
            </a:r>
            <a:endParaRPr lang="en-US" sz="1200" b="0" strike="noStrike" spc="-1" dirty="0">
              <a:solidFill>
                <a:srgbClr val="000000"/>
              </a:solidFill>
            </a:endParaRPr>
          </a:p>
          <a:p>
            <a:pPr defTabSz="914400">
              <a:lnSpc>
                <a:spcPct val="100000"/>
              </a:lnSpc>
              <a:spcAft>
                <a:spcPts val="300"/>
              </a:spcAft>
            </a:pPr>
            <a:endParaRPr lang="en-US" sz="1200" spc="-1" dirty="0">
              <a:solidFill>
                <a:srgbClr val="000000"/>
              </a:solidFill>
            </a:endParaRPr>
          </a:p>
          <a:p>
            <a:pPr defTabSz="914400">
              <a:lnSpc>
                <a:spcPct val="100000"/>
              </a:lnSpc>
              <a:spcAft>
                <a:spcPts val="300"/>
              </a:spcAft>
            </a:pPr>
            <a:r>
              <a:rPr lang="en-US" sz="1200" b="0" strike="noStrike" spc="-1" dirty="0">
                <a:solidFill>
                  <a:srgbClr val="000000"/>
                </a:solidFill>
              </a:rPr>
              <a:t>Non-technical people customize behavior by editing markdown.</a:t>
            </a:r>
          </a:p>
          <a:p>
            <a:pPr defTabSz="914400">
              <a:lnSpc>
                <a:spcPct val="100000"/>
              </a:lnSpc>
              <a:spcAft>
                <a:spcPts val="300"/>
              </a:spcAft>
            </a:pPr>
            <a:r>
              <a:rPr lang="en-US" sz="1200" b="1" strike="noStrike" spc="-1" dirty="0">
                <a:solidFill>
                  <a:srgbClr val="000000"/>
                </a:solidFill>
              </a:rPr>
              <a:t>Restart. Done. SaaS-ready from day one.</a:t>
            </a:r>
            <a:endParaRPr lang="en-US" sz="1200" b="0" strike="noStrike" spc="-1" dirty="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132"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3"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134"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Demo Link</a:t>
            </a:r>
            <a:endParaRPr lang="en-US" sz="4300" b="0" strike="noStrike" spc="-1">
              <a:solidFill>
                <a:srgbClr val="000000"/>
              </a:solidFill>
              <a:latin typeface="Arial"/>
            </a:endParaRPr>
          </a:p>
        </p:txBody>
      </p:sp>
      <p:sp>
        <p:nvSpPr>
          <p:cNvPr id="136" name="TextBox 8"/>
          <p:cNvSpPr/>
          <p:nvPr/>
        </p:nvSpPr>
        <p:spPr>
          <a:xfrm>
            <a:off x="740519" y="1683000"/>
            <a:ext cx="6514719" cy="394065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spcAft>
                <a:spcPts val="201"/>
              </a:spcAft>
            </a:pPr>
            <a:endParaRPr lang="en-US" sz="1800" b="0" strike="noStrike" spc="-1" dirty="0">
              <a:solidFill>
                <a:srgbClr val="000000"/>
              </a:solidFill>
              <a:latin typeface="Arial"/>
            </a:endParaRPr>
          </a:p>
          <a:p>
            <a:pPr defTabSz="914400">
              <a:lnSpc>
                <a:spcPct val="100000"/>
              </a:lnSpc>
              <a:spcAft>
                <a:spcPts val="300"/>
              </a:spcAft>
            </a:pPr>
            <a:r>
              <a:rPr lang="en-US" sz="1400" b="1" strike="noStrike" spc="-1" dirty="0">
                <a:solidFill>
                  <a:srgbClr val="E81B25"/>
                </a:solidFill>
                <a:latin typeface="Calibri"/>
              </a:rPr>
              <a:t>GITHUB REPO</a:t>
            </a:r>
            <a:endParaRPr lang="en-US" sz="1400" b="0" strike="noStrike" spc="-1" dirty="0">
              <a:solidFill>
                <a:srgbClr val="000000"/>
              </a:solidFill>
              <a:latin typeface="Arial"/>
            </a:endParaRPr>
          </a:p>
          <a:p>
            <a:pPr>
              <a:spcAft>
                <a:spcPts val="201"/>
              </a:spcAft>
            </a:pPr>
            <a:r>
              <a:rPr lang="en-US" spc="-1" dirty="0">
                <a:solidFill>
                  <a:srgbClr val="000000"/>
                </a:solidFill>
                <a:latin typeface="Arial"/>
                <a:hlinkClick r:id="rId3"/>
              </a:rPr>
              <a:t>https://github.com/threadsync/clawrity</a:t>
            </a:r>
            <a:endParaRPr lang="en-US" spc="-1" dirty="0">
              <a:solidFill>
                <a:srgbClr val="000000"/>
              </a:solidFill>
              <a:latin typeface="Arial"/>
            </a:endParaRPr>
          </a:p>
          <a:p>
            <a:pPr>
              <a:spcAft>
                <a:spcPts val="201"/>
              </a:spcAft>
            </a:pPr>
            <a:endParaRPr lang="en-US" sz="1800" b="0" strike="noStrike" spc="-1" dirty="0">
              <a:solidFill>
                <a:srgbClr val="000000"/>
              </a:solidFill>
              <a:latin typeface="Arial"/>
            </a:endParaRPr>
          </a:p>
          <a:p>
            <a:pPr defTabSz="914400">
              <a:lnSpc>
                <a:spcPct val="100000"/>
              </a:lnSpc>
              <a:spcAft>
                <a:spcPts val="300"/>
              </a:spcAft>
            </a:pPr>
            <a:r>
              <a:rPr lang="en-US" sz="1400" b="1" strike="noStrike" spc="-1" dirty="0">
                <a:solidFill>
                  <a:srgbClr val="E81B25"/>
                </a:solidFill>
                <a:latin typeface="Calibri"/>
              </a:rPr>
              <a:t>DEMO LINK </a:t>
            </a:r>
            <a:endParaRPr lang="en-US" sz="1400" b="0" strike="noStrike" spc="-1" dirty="0">
              <a:solidFill>
                <a:srgbClr val="01BCFF"/>
              </a:solidFill>
              <a:latin typeface="Arial"/>
            </a:endParaRPr>
          </a:p>
          <a:p>
            <a:pPr>
              <a:spcAft>
                <a:spcPts val="201"/>
              </a:spcAft>
            </a:pPr>
            <a:r>
              <a:rPr lang="en-US" spc="-1" dirty="0">
                <a:solidFill>
                  <a:srgbClr val="01BCFF"/>
                </a:solidFill>
                <a:latin typeface="Arial"/>
                <a:hlinkClick r:id="rId4"/>
              </a:rPr>
              <a:t>https://github.com/threadsync/clawrity/blob/main/clawrity-demo.mp4</a:t>
            </a:r>
            <a:endParaRPr lang="en-US" spc="-1" dirty="0">
              <a:solidFill>
                <a:srgbClr val="01BCFF"/>
              </a:solidFill>
              <a:latin typeface="Arial"/>
            </a:endParaRPr>
          </a:p>
          <a:p>
            <a:pPr>
              <a:spcAft>
                <a:spcPts val="201"/>
              </a:spcAft>
            </a:pPr>
            <a:endParaRPr lang="en-US" sz="1800" b="0" strike="noStrike" spc="-1" dirty="0">
              <a:solidFill>
                <a:srgbClr val="01BCFF"/>
              </a:solidFill>
              <a:latin typeface="Arial"/>
            </a:endParaRPr>
          </a:p>
          <a:p>
            <a:pPr>
              <a:spcAft>
                <a:spcPts val="201"/>
              </a:spcAft>
            </a:pPr>
            <a:r>
              <a:rPr lang="en-US" spc="-1" dirty="0">
                <a:solidFill>
                  <a:srgbClr val="01BCFF"/>
                </a:solidFill>
                <a:latin typeface="Arial"/>
                <a:hlinkClick r:id="rId5"/>
              </a:rPr>
              <a:t>https://www.youtube.com/watch?v=sXboHHSg4_k</a:t>
            </a:r>
            <a:endParaRPr lang="en-US" spc="-1" dirty="0">
              <a:solidFill>
                <a:srgbClr val="01BCFF"/>
              </a:solidFill>
              <a:latin typeface="Arial"/>
            </a:endParaRPr>
          </a:p>
          <a:p>
            <a:pPr>
              <a:spcAft>
                <a:spcPts val="201"/>
              </a:spcAft>
            </a:pPr>
            <a:endParaRPr lang="en-US" sz="1800" b="0" strike="noStrike" spc="-1" dirty="0">
              <a:solidFill>
                <a:srgbClr val="01BCFF"/>
              </a:solidFill>
              <a:latin typeface="Arial"/>
            </a:endParaRPr>
          </a:p>
          <a:p>
            <a:pPr defTabSz="914400">
              <a:lnSpc>
                <a:spcPct val="100000"/>
              </a:lnSpc>
              <a:spcAft>
                <a:spcPts val="300"/>
              </a:spcAft>
            </a:pPr>
            <a:endParaRPr lang="en-US" sz="1300" b="1" strike="noStrike" spc="-1" dirty="0">
              <a:solidFill>
                <a:srgbClr val="E81B25"/>
              </a:solidFill>
              <a:latin typeface="Calibri"/>
            </a:endParaRPr>
          </a:p>
          <a:p>
            <a:pPr defTabSz="914400">
              <a:lnSpc>
                <a:spcPct val="100000"/>
              </a:lnSpc>
              <a:spcAft>
                <a:spcPts val="300"/>
              </a:spcAft>
            </a:pPr>
            <a:r>
              <a:rPr lang="en-US" sz="1400" b="1" strike="noStrike" spc="-1" dirty="0">
                <a:solidFill>
                  <a:srgbClr val="E81B25"/>
                </a:solidFill>
                <a:latin typeface="Calibri"/>
              </a:rPr>
              <a:t>DOCUMENT SUBMITTED</a:t>
            </a:r>
          </a:p>
          <a:p>
            <a:pPr defTabSz="914400">
              <a:lnSpc>
                <a:spcPct val="100000"/>
              </a:lnSpc>
              <a:spcAft>
                <a:spcPts val="300"/>
              </a:spcAft>
            </a:pPr>
            <a:endParaRPr lang="en-US" sz="1300" b="1" strike="noStrike" spc="-1" dirty="0">
              <a:solidFill>
                <a:srgbClr val="E81B25"/>
              </a:solidFill>
              <a:latin typeface="Calibri"/>
            </a:endParaRPr>
          </a:p>
          <a:p>
            <a:pPr>
              <a:spcAft>
                <a:spcPts val="300"/>
              </a:spcAft>
            </a:pPr>
            <a:r>
              <a:rPr lang="en-US" sz="1400" b="1" spc="-1" dirty="0">
                <a:solidFill>
                  <a:schemeClr val="tx1">
                    <a:lumMod val="95000"/>
                    <a:lumOff val="5000"/>
                  </a:schemeClr>
                </a:solidFill>
              </a:rPr>
              <a:t>AI Disclosure Form, PPT, Demo Video, GitHub Repo Link</a:t>
            </a:r>
            <a:endParaRPr lang="en-US" sz="1400" b="1" strike="noStrike" spc="-1" dirty="0">
              <a:solidFill>
                <a:schemeClr val="tx1">
                  <a:lumMod val="95000"/>
                  <a:lumOff val="5000"/>
                </a:schemeClr>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strike="noStrike" spc="-1">
              <a:solidFill>
                <a:srgbClr val="FFFFFF"/>
              </a:solidFill>
              <a:latin typeface="Arial"/>
            </a:endParaRPr>
          </a:p>
        </p:txBody>
      </p:sp>
      <p:sp>
        <p:nvSpPr>
          <p:cNvPr id="138"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9"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strike="noStrike" spc="-1">
                <a:solidFill>
                  <a:schemeClr val="lt1"/>
                </a:solidFill>
                <a:latin typeface="Calibri"/>
              </a:rPr>
              <a:t>Idea</a:t>
            </a:r>
            <a:endParaRPr lang="en-US" sz="1000" b="0" strike="noStrike" spc="-1">
              <a:solidFill>
                <a:srgbClr val="000000"/>
              </a:solidFill>
              <a:latin typeface="Arial"/>
            </a:endParaRPr>
          </a:p>
        </p:txBody>
      </p:sp>
      <p:sp>
        <p:nvSpPr>
          <p:cNvPr id="140"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300" b="1" strike="noStrike" spc="-1">
                <a:solidFill>
                  <a:schemeClr val="dk1"/>
                </a:solidFill>
                <a:latin typeface="Calibri"/>
              </a:rPr>
              <a:t>Brownie Points</a:t>
            </a:r>
            <a:endParaRPr lang="en-US" sz="4300" b="0" strike="noStrike" spc="-1">
              <a:solidFill>
                <a:srgbClr val="000000"/>
              </a:solidFill>
              <a:latin typeface="Arial"/>
            </a:endParaRPr>
          </a:p>
        </p:txBody>
      </p:sp>
      <p:sp>
        <p:nvSpPr>
          <p:cNvPr id="141"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26670" b="0" strike="noStrike" spc="-1">
              <a:solidFill>
                <a:schemeClr val="dk1"/>
              </a:solidFill>
              <a:latin typeface="Calibri"/>
            </a:endParaRPr>
          </a:p>
        </p:txBody>
      </p:sp>
      <p:sp>
        <p:nvSpPr>
          <p:cNvPr id="3" name="TextBox 2">
            <a:extLst>
              <a:ext uri="{FF2B5EF4-FFF2-40B4-BE49-F238E27FC236}">
                <a16:creationId xmlns:a16="http://schemas.microsoft.com/office/drawing/2014/main" id="{DE1AF586-74B1-C010-105E-5BD9CA8C0452}"/>
              </a:ext>
            </a:extLst>
          </p:cNvPr>
          <p:cNvSpPr txBox="1"/>
          <p:nvPr/>
        </p:nvSpPr>
        <p:spPr>
          <a:xfrm>
            <a:off x="609480" y="1634040"/>
            <a:ext cx="11241314" cy="4093428"/>
          </a:xfrm>
          <a:prstGeom prst="rect">
            <a:avLst/>
          </a:prstGeom>
          <a:noFill/>
        </p:spPr>
        <p:txBody>
          <a:bodyPr wrap="square" rtlCol="0">
            <a:spAutoFit/>
          </a:bodyPr>
          <a:lstStyle/>
          <a:p>
            <a:pPr>
              <a:spcAft>
                <a:spcPts val="300"/>
              </a:spcAft>
            </a:pPr>
            <a:r>
              <a:rPr lang="en-US" sz="1400" b="1" spc="-1" dirty="0">
                <a:solidFill>
                  <a:srgbClr val="000000"/>
                </a:solidFill>
              </a:rPr>
              <a:t>Hallucination Shield (Gen → QA Loop)</a:t>
            </a:r>
            <a:endParaRPr lang="en-US" sz="1400" spc="-1" dirty="0">
              <a:solidFill>
                <a:srgbClr val="000000"/>
              </a:solidFill>
              <a:latin typeface="Arial"/>
            </a:endParaRPr>
          </a:p>
          <a:p>
            <a:pPr>
              <a:spcAft>
                <a:spcPts val="300"/>
              </a:spcAft>
            </a:pPr>
            <a:r>
              <a:rPr lang="en-US" sz="1200" b="1" spc="-1" dirty="0">
                <a:solidFill>
                  <a:srgbClr val="000000"/>
                </a:solidFill>
              </a:rPr>
              <a:t>No other Slack BI bot fact-checks itself.</a:t>
            </a:r>
            <a:endParaRPr lang="en-US" sz="1200" spc="-1" dirty="0">
              <a:solidFill>
                <a:srgbClr val="000000"/>
              </a:solidFill>
              <a:latin typeface="Arial"/>
            </a:endParaRPr>
          </a:p>
          <a:p>
            <a:pPr>
              <a:spcAft>
                <a:spcPts val="201"/>
              </a:spcAft>
            </a:pPr>
            <a:endParaRPr lang="en-US" sz="1200" spc="-1" dirty="0">
              <a:solidFill>
                <a:srgbClr val="000000"/>
              </a:solidFill>
              <a:latin typeface="Arial"/>
            </a:endParaRPr>
          </a:p>
          <a:p>
            <a:pPr>
              <a:spcAft>
                <a:spcPts val="300"/>
              </a:spcAft>
            </a:pPr>
            <a:r>
              <a:rPr lang="en-US" sz="1200" spc="-1" dirty="0">
                <a:solidFill>
                  <a:srgbClr val="000000"/>
                </a:solidFill>
              </a:rPr>
              <a:t>• Gen Agent generates at temp 0.7</a:t>
            </a:r>
            <a:endParaRPr lang="en-US" sz="1200" spc="-1" dirty="0">
              <a:solidFill>
                <a:srgbClr val="000000"/>
              </a:solidFill>
              <a:latin typeface="Arial"/>
            </a:endParaRPr>
          </a:p>
          <a:p>
            <a:pPr>
              <a:spcAft>
                <a:spcPts val="300"/>
              </a:spcAft>
            </a:pPr>
            <a:r>
              <a:rPr lang="en-US" sz="1200" spc="-1" dirty="0">
                <a:solidFill>
                  <a:srgbClr val="000000"/>
                </a:solidFill>
              </a:rPr>
              <a:t>• QA Agent evaluates at temp 0.1 — checks every number,</a:t>
            </a:r>
            <a:endParaRPr lang="en-US" sz="1200" spc="-1" dirty="0">
              <a:solidFill>
                <a:srgbClr val="000000"/>
              </a:solidFill>
              <a:latin typeface="Arial"/>
            </a:endParaRPr>
          </a:p>
          <a:p>
            <a:pPr>
              <a:spcAft>
                <a:spcPts val="300"/>
              </a:spcAft>
            </a:pPr>
            <a:r>
              <a:rPr lang="en-US" sz="1200" spc="-1" dirty="0">
                <a:solidFill>
                  <a:srgbClr val="000000"/>
                </a:solidFill>
              </a:rPr>
              <a:t>  branch name, and claim against actual SQL results</a:t>
            </a:r>
            <a:endParaRPr lang="en-US" sz="1200" spc="-1" dirty="0">
              <a:solidFill>
                <a:srgbClr val="000000"/>
              </a:solidFill>
              <a:latin typeface="Arial"/>
            </a:endParaRPr>
          </a:p>
          <a:p>
            <a:pPr>
              <a:spcAft>
                <a:spcPts val="300"/>
              </a:spcAft>
            </a:pPr>
            <a:r>
              <a:rPr lang="en-US" sz="1200" spc="-1" dirty="0">
                <a:solidFill>
                  <a:srgbClr val="000000"/>
                </a:solidFill>
              </a:rPr>
              <a:t>• Deducts 0.3/hallucinated branch, 0.2/wrong number</a:t>
            </a:r>
            <a:endParaRPr lang="en-US" sz="1200" spc="-1" dirty="0">
              <a:solidFill>
                <a:srgbClr val="000000"/>
              </a:solidFill>
              <a:latin typeface="Arial"/>
            </a:endParaRPr>
          </a:p>
          <a:p>
            <a:pPr>
              <a:spcAft>
                <a:spcPts val="300"/>
              </a:spcAft>
            </a:pPr>
            <a:r>
              <a:rPr lang="en-US" sz="1200" spc="-1" dirty="0">
                <a:solidFill>
                  <a:srgbClr val="000000"/>
                </a:solidFill>
              </a:rPr>
              <a:t>• Fail? Retry with lower temp. Max 2 retries.</a:t>
            </a:r>
            <a:endParaRPr lang="en-US" sz="1200" spc="-1" dirty="0">
              <a:solidFill>
                <a:srgbClr val="000000"/>
              </a:solidFill>
              <a:latin typeface="Arial"/>
            </a:endParaRPr>
          </a:p>
          <a:p>
            <a:pPr>
              <a:spcAft>
                <a:spcPts val="300"/>
              </a:spcAft>
            </a:pPr>
            <a:r>
              <a:rPr lang="en-US" sz="1200" spc="-1" dirty="0">
                <a:solidFill>
                  <a:srgbClr val="000000"/>
                </a:solidFill>
              </a:rPr>
              <a:t>• Still failing? User gets confidence warning with score.</a:t>
            </a:r>
            <a:endParaRPr lang="en-US" sz="1200" spc="-1" dirty="0">
              <a:solidFill>
                <a:srgbClr val="000000"/>
              </a:solidFill>
              <a:latin typeface="Arial"/>
            </a:endParaRPr>
          </a:p>
          <a:p>
            <a:pPr>
              <a:spcAft>
                <a:spcPts val="300"/>
              </a:spcAft>
            </a:pPr>
            <a:r>
              <a:rPr lang="en-US" sz="1200" spc="-1" dirty="0">
                <a:solidFill>
                  <a:srgbClr val="000000"/>
                </a:solidFill>
              </a:rPr>
              <a:t>• Pipeline stage with caching, scoring &amp; SQL-aware validation</a:t>
            </a:r>
            <a:endParaRPr lang="en-US" sz="1200" spc="-1" dirty="0">
              <a:solidFill>
                <a:srgbClr val="000000"/>
              </a:solidFill>
              <a:latin typeface="Arial"/>
            </a:endParaRPr>
          </a:p>
          <a:p>
            <a:pPr>
              <a:spcAft>
                <a:spcPts val="201"/>
              </a:spcAft>
            </a:pPr>
            <a:endParaRPr lang="en-US" sz="1200" spc="-1" dirty="0">
              <a:solidFill>
                <a:srgbClr val="000000"/>
              </a:solidFill>
              <a:latin typeface="Arial"/>
            </a:endParaRPr>
          </a:p>
          <a:p>
            <a:pPr>
              <a:spcAft>
                <a:spcPts val="300"/>
              </a:spcAft>
            </a:pPr>
            <a:r>
              <a:rPr lang="en-US" sz="1400" b="1" spc="-1" dirty="0">
                <a:solidFill>
                  <a:srgbClr val="000000"/>
                </a:solidFill>
              </a:rPr>
              <a:t>Zero-Code Onboarding (</a:t>
            </a:r>
            <a:r>
              <a:rPr lang="en-US" sz="1400" b="1" spc="-1" dirty="0" err="1">
                <a:solidFill>
                  <a:srgbClr val="000000"/>
                </a:solidFill>
              </a:rPr>
              <a:t>OpenClaw</a:t>
            </a:r>
            <a:r>
              <a:rPr lang="en-US" sz="1400" b="1" spc="-1" dirty="0">
                <a:solidFill>
                  <a:srgbClr val="000000"/>
                </a:solidFill>
              </a:rPr>
              <a:t> Pattern)</a:t>
            </a:r>
            <a:endParaRPr lang="en-US" sz="1400" spc="-1" dirty="0">
              <a:solidFill>
                <a:srgbClr val="000000"/>
              </a:solidFill>
              <a:latin typeface="Arial"/>
            </a:endParaRPr>
          </a:p>
          <a:p>
            <a:pPr>
              <a:spcAft>
                <a:spcPts val="300"/>
              </a:spcAft>
            </a:pPr>
            <a:r>
              <a:rPr lang="en-US" sz="1200" b="1" spc="-1" dirty="0">
                <a:solidFill>
                  <a:srgbClr val="000000"/>
                </a:solidFill>
              </a:rPr>
              <a:t>New client = 3 files, 0 lines of code:</a:t>
            </a:r>
            <a:endParaRPr lang="en-US" sz="1200" spc="-1" dirty="0">
              <a:solidFill>
                <a:srgbClr val="000000"/>
              </a:solidFill>
              <a:latin typeface="Arial"/>
            </a:endParaRPr>
          </a:p>
          <a:p>
            <a:pPr>
              <a:spcAft>
                <a:spcPts val="201"/>
              </a:spcAft>
            </a:pPr>
            <a:endParaRPr lang="en-US" sz="1200" spc="-1" dirty="0">
              <a:solidFill>
                <a:srgbClr val="000000"/>
              </a:solidFill>
              <a:latin typeface="Arial"/>
            </a:endParaRPr>
          </a:p>
          <a:p>
            <a:pPr>
              <a:spcAft>
                <a:spcPts val="300"/>
              </a:spcAft>
            </a:pPr>
            <a:r>
              <a:rPr lang="en-US" sz="1200" spc="-1" dirty="0">
                <a:solidFill>
                  <a:srgbClr val="000000"/>
                </a:solidFill>
              </a:rPr>
              <a:t>• </a:t>
            </a:r>
            <a:r>
              <a:rPr lang="en-US" sz="1200" spc="-1" dirty="0" err="1">
                <a:solidFill>
                  <a:srgbClr val="000000"/>
                </a:solidFill>
              </a:rPr>
              <a:t>client_newcorp.yaml</a:t>
            </a:r>
            <a:r>
              <a:rPr lang="en-US" sz="1200" spc="-1" dirty="0">
                <a:solidFill>
                  <a:srgbClr val="000000"/>
                </a:solidFill>
              </a:rPr>
              <a:t> — data source, thresholds, scout config</a:t>
            </a:r>
            <a:endParaRPr lang="en-US" sz="1200" spc="-1" dirty="0">
              <a:solidFill>
                <a:srgbClr val="000000"/>
              </a:solidFill>
              <a:latin typeface="Arial"/>
            </a:endParaRPr>
          </a:p>
          <a:p>
            <a:pPr>
              <a:spcAft>
                <a:spcPts val="300"/>
              </a:spcAft>
            </a:pPr>
            <a:r>
              <a:rPr lang="en-US" sz="1200" spc="-1" dirty="0">
                <a:solidFill>
                  <a:srgbClr val="000000"/>
                </a:solidFill>
              </a:rPr>
              <a:t>• newcorp_soul.md — personality, business rules, routing</a:t>
            </a:r>
            <a:endParaRPr lang="en-US" sz="1200" spc="-1" dirty="0">
              <a:solidFill>
                <a:srgbClr val="000000"/>
              </a:solidFill>
              <a:latin typeface="Arial"/>
            </a:endParaRPr>
          </a:p>
          <a:p>
            <a:pPr>
              <a:spcAft>
                <a:spcPts val="300"/>
              </a:spcAft>
            </a:pPr>
            <a:r>
              <a:rPr lang="en-US" sz="1200" spc="-1" dirty="0">
                <a:solidFill>
                  <a:srgbClr val="000000"/>
                </a:solidFill>
              </a:rPr>
              <a:t>• newcorp_heartbeat.md — digest schedule, report format</a:t>
            </a:r>
            <a:endParaRPr lang="en-US" sz="1200" spc="-1" dirty="0">
              <a:solidFill>
                <a:srgbClr val="000000"/>
              </a:solidFill>
              <a:latin typeface="Arial"/>
            </a:endParaRPr>
          </a:p>
          <a:p>
            <a:endParaRPr lang="en-IN" sz="12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B7AB10-857A-460D-A480-D616B67A24EB}">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367</TotalTime>
  <Words>1276</Words>
  <Application>Microsoft Office PowerPoint</Application>
  <PresentationFormat>Widescreen</PresentationFormat>
  <Paragraphs>184</Paragraphs>
  <Slides>10</Slides>
  <Notes>9</Notes>
  <HiddenSlides>0</HiddenSlides>
  <MMClips>0</MMClips>
  <ScaleCrop>false</ScaleCrop>
  <HeadingPairs>
    <vt:vector size="6" baseType="variant">
      <vt:variant>
        <vt:lpstr>Fonts Used</vt:lpstr>
      </vt:variant>
      <vt:variant>
        <vt:i4>7</vt:i4>
      </vt:variant>
      <vt:variant>
        <vt:lpstr>Theme</vt:lpstr>
      </vt:variant>
      <vt:variant>
        <vt:i4>12</vt:i4>
      </vt:variant>
      <vt:variant>
        <vt:lpstr>Slide Titles</vt:lpstr>
      </vt:variant>
      <vt:variant>
        <vt:i4>10</vt:i4>
      </vt:variant>
    </vt:vector>
  </HeadingPairs>
  <TitlesOfParts>
    <vt:vector size="29" baseType="lpstr">
      <vt:lpstr>Arial</vt:lpstr>
      <vt:lpstr>Berlin Sans FB Demi</vt:lpstr>
      <vt:lpstr>Calibri</vt:lpstr>
      <vt:lpstr>Calibri Light</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Prakhar Chandrakar ./PRISM /SRI-Bangalore/Professional/Samsung Electronics</dc:creator>
  <dc:description/>
  <cp:lastModifiedBy>Railway Audit SWR Hubli ID 5</cp:lastModifiedBy>
  <cp:revision>16</cp:revision>
  <dcterms:created xsi:type="dcterms:W3CDTF">2026-04-27T09:11:02Z</dcterms:created>
  <dcterms:modified xsi:type="dcterms:W3CDTF">2026-05-08T15:02:30Z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y fmtid="{D5CDD505-2E9C-101B-9397-08002B2CF9AE}" pid="3" name="Notes">
    <vt:i4>9</vt:i4>
  </property>
  <property fmtid="{D5CDD505-2E9C-101B-9397-08002B2CF9AE}" pid="4" name="PresentationFormat">
    <vt:lpwstr>Widescreen</vt:lpwstr>
  </property>
  <property fmtid="{D5CDD505-2E9C-101B-9397-08002B2CF9AE}" pid="5" name="Slides">
    <vt:i4>10</vt:i4>
  </property>
</Properties>
</file>